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e3168b96a4a4431b" /><Relationship Type="http://schemas.openxmlformats.org/officeDocument/2006/relationships/extended-properties" Target="/docProps/app.xml" Id="Rdd45619dd8e048a1" /><Relationship Type="http://schemas.openxmlformats.org/officeDocument/2006/relationships/officeDocument" Target="/ppt/presentation.xml" Id="Rbe1c02b9c56f4d9d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ef539af1bd9d48d6"/>
  </p:sldMasterIdLst>
  <p:notesMasterIdLst>
    <p:notesMasterId xmlns:r="http://schemas.openxmlformats.org/officeDocument/2006/relationships" r:id="R8020af433e0b4bb2"/>
  </p:notesMasterIdLst>
  <p:sldIdLst>
    <p:sldId xmlns:r="http://schemas.openxmlformats.org/officeDocument/2006/relationships" id="256" r:id="R5c37be7d094444d7"/>
    <p:sldId xmlns:r="http://schemas.openxmlformats.org/officeDocument/2006/relationships" id="257" r:id="Rfec53460a89b448d"/>
    <p:sldId xmlns:r="http://schemas.openxmlformats.org/officeDocument/2006/relationships" id="258" r:id="Raee4f0bc07404834"/>
    <p:sldId xmlns:r="http://schemas.openxmlformats.org/officeDocument/2006/relationships" id="259" r:id="R5656976087f049bf"/>
    <p:sldId xmlns:r="http://schemas.openxmlformats.org/officeDocument/2006/relationships" id="260" r:id="Rd050a79466444a40"/>
    <p:sldId xmlns:r="http://schemas.openxmlformats.org/officeDocument/2006/relationships" id="261" r:id="R70272d681c8b4a93"/>
    <p:sldId xmlns:r="http://schemas.openxmlformats.org/officeDocument/2006/relationships" id="262" r:id="R6e973061f6764edc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d9d641e66f3141f0" /><Relationship Type="http://schemas.openxmlformats.org/officeDocument/2006/relationships/slideMaster" Target="/ppt/slideMasters/slideMaster1.xml" Id="Ref539af1bd9d48d6" /><Relationship Type="http://schemas.openxmlformats.org/officeDocument/2006/relationships/notesMaster" Target="/ppt/notesMasters/notesMaster1.xml" Id="R8020af433e0b4bb2" /><Relationship Type="http://schemas.openxmlformats.org/officeDocument/2006/relationships/presProps" Target="/ppt/presProps.xml" Id="Rfb920d70bad6457d" /><Relationship Type="http://schemas.openxmlformats.org/officeDocument/2006/relationships/tableStyles" Target="/ppt/tableStyles.xml" Id="R85c00199303448ce" /><Relationship Type="http://schemas.openxmlformats.org/officeDocument/2006/relationships/slide" Target="/ppt/slides/slide1.xml" Id="R5c37be7d094444d7" /><Relationship Type="http://schemas.openxmlformats.org/officeDocument/2006/relationships/slide" Target="/ppt/slides/slide2.xml" Id="Rfec53460a89b448d" /><Relationship Type="http://schemas.openxmlformats.org/officeDocument/2006/relationships/slide" Target="/ppt/slides/slide3.xml" Id="Raee4f0bc07404834" /><Relationship Type="http://schemas.openxmlformats.org/officeDocument/2006/relationships/slide" Target="/ppt/slides/slide4.xml" Id="R5656976087f049bf" /><Relationship Type="http://schemas.openxmlformats.org/officeDocument/2006/relationships/slide" Target="/ppt/slides/slide5.xml" Id="Rd050a79466444a40" /><Relationship Type="http://schemas.openxmlformats.org/officeDocument/2006/relationships/slide" Target="/ppt/slides/slide6.xml" Id="R70272d681c8b4a93" /><Relationship Type="http://schemas.openxmlformats.org/officeDocument/2006/relationships/slide" Target="/ppt/slides/slide7.xml" Id="R6e973061f6764edc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7ca7fa4abea04b3f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13ff0daa2aad405c" /><Relationship Type="http://schemas.openxmlformats.org/officeDocument/2006/relationships/notesMaster" Target="/ppt/notesMasters/notesMaster1.xml" Id="Reb696c6d23584b97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86d058b6e96d4486" /><Relationship Type="http://schemas.openxmlformats.org/officeDocument/2006/relationships/notesMaster" Target="/ppt/notesMasters/notesMaster1.xml" Id="Rb6e192e624734943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45439f94bb53456d" /><Relationship Type="http://schemas.openxmlformats.org/officeDocument/2006/relationships/notesMaster" Target="/ppt/notesMasters/notesMaster1.xml" Id="R6c686ab589ec4dff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1c4012b98a0541ad" /><Relationship Type="http://schemas.openxmlformats.org/officeDocument/2006/relationships/notesMaster" Target="/ppt/notesMasters/notesMaster1.xml" Id="Re8b3a89c02f743db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d06972e12b964b41" /><Relationship Type="http://schemas.openxmlformats.org/officeDocument/2006/relationships/notesMaster" Target="/ppt/notesMasters/notesMaster1.xml" Id="Rdd54cc922c574aa0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e66df6448ef5458e" /><Relationship Type="http://schemas.openxmlformats.org/officeDocument/2006/relationships/notesMaster" Target="/ppt/notesMasters/notesMaster1.xml" Id="R22507f63e0c341db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d48eb51d48ba42e0" /><Relationship Type="http://schemas.openxmlformats.org/officeDocument/2006/relationships/notesMaster" Target="/ppt/notesMasters/notesMaster1.xml" Id="Re7c279ddcd5a4e53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1a4a54f67664917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e37f3be2f1a64255" /><Relationship Type="http://schemas.openxmlformats.org/officeDocument/2006/relationships/slideLayout" Target="/ppt/slideLayouts/slideLayout1.xml" Id="R3c3b1a3e67ac478c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3c3b1a3e67ac478c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a74c8dda7d24e01" /><Relationship Type="http://schemas.openxmlformats.org/officeDocument/2006/relationships/notesSlide" Target="/ppt/notesSlides/notesSlide1.xml" Id="R89b4d9e4e47f42f9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ed398dc5a404217" /><Relationship Type="http://schemas.openxmlformats.org/officeDocument/2006/relationships/notesSlide" Target="/ppt/notesSlides/notesSlide2.xml" Id="Rf0f6b408fec24af3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02504481de44f99" /><Relationship Type="http://schemas.openxmlformats.org/officeDocument/2006/relationships/notesSlide" Target="/ppt/notesSlides/notesSlide3.xml" Id="R0917016fb7bc45d6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a7f631eb02e41ef" /><Relationship Type="http://schemas.openxmlformats.org/officeDocument/2006/relationships/notesSlide" Target="/ppt/notesSlides/notesSlide4.xml" Id="Rf0bf7fb3a939423a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ec449b9780e4d42" /><Relationship Type="http://schemas.openxmlformats.org/officeDocument/2006/relationships/notesSlide" Target="/ppt/notesSlides/notesSlide5.xml" Id="Re0666326d8b84d8b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9ec1c548dff4f2d" /><Relationship Type="http://schemas.openxmlformats.org/officeDocument/2006/relationships/notesSlide" Target="/ppt/notesSlides/notesSlide6.xml" Id="R161cfba0e74740b5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d42193141144359" /><Relationship Type="http://schemas.openxmlformats.org/officeDocument/2006/relationships/notesSlide" Target="/ppt/notesSlides/notesSlide7.xml" Id="R8197f61f17074bd7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cover-kicker">
            <a:extLst xmlns:a="http://schemas.openxmlformats.org/drawingml/2006/main">
              <a:ext uri="{FF2B5EF4-FFF2-40B4-BE49-F238E27FC236}">
                <a16:creationId xmlns:a16="http://schemas.microsoft.com/office/drawing/2014/main" id="{FCCEC76B-B743-4F90-954F-DC5B92D1D0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00050"/>
            <a:ext cx="5334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5F6368"/>
                </a:solidFill>
              </a:defRPr>
            </a:pPr>
            <a:r>
              <a:rPr sz="1200" b="1">
                <a:solidFill>
                  <a:srgbClr val="5F6368"/>
                </a:solidFill>
              </a:rPr>
              <a:t>AI CHIP RTL / MODULE PLANNING</a:t>
            </a:r>
          </a:p>
        </p:txBody>
      </p:sp>
      <p:sp>
        <p:nvSpPr>
          <p:cNvPr id="2" name="cover-accent">
            <a:extLst xmlns:a="http://schemas.openxmlformats.org/drawingml/2006/main">
              <a:ext uri="{FF2B5EF4-FFF2-40B4-BE49-F238E27FC236}">
                <a16:creationId xmlns:a16="http://schemas.microsoft.com/office/drawing/2014/main" id="{79808532-97E3-429C-BA7D-941616A7AA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990600"/>
            <a:ext cx="142875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solidFill>
              <a:srgbClr val="3D8DFF"/>
            </a:solidFill>
            <a:prstDash val="solid"/>
          </a:ln>
        </p:spPr>
      </p:sp>
      <p:sp>
        <p:nvSpPr>
          <p:cNvPr id="3" name="cover-title">
            <a:extLst xmlns:a="http://schemas.openxmlformats.org/drawingml/2006/main">
              <a:ext uri="{FF2B5EF4-FFF2-40B4-BE49-F238E27FC236}">
                <a16:creationId xmlns:a16="http://schemas.microsoft.com/office/drawing/2014/main" id="{491399DC-AFB5-4FA0-91D9-A4C8146358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952625"/>
            <a:ext cx="9334500" cy="1809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4350" b="1">
                <a:solidFill>
                  <a:srgbClr val="000000"/>
                </a:solidFill>
              </a:defRPr>
            </a:pPr>
            <a:r>
              <a:rPr sz="4350" b="1">
                <a:solidFill>
                  <a:srgbClr val="000000"/>
                </a:solidFill>
              </a:rPr>
              <a:t>chip_top 稀疏注意力</a:t>
            </a:r>
          </a:p>
          <a:p xmlns:a="http://schemas.openxmlformats.org/drawingml/2006/main">
            <a:pPr algn="l">
              <a:defRPr sz="4350" b="1">
                <a:solidFill>
                  <a:srgbClr val="000000"/>
                </a:solidFill>
              </a:defRPr>
            </a:pPr>
            <a:r>
              <a:rPr sz="4350" b="1">
                <a:solidFill>
                  <a:srgbClr val="000000"/>
                </a:solidFill>
              </a:rPr>
              <a:t>模組規劃</a:t>
            </a:r>
          </a:p>
        </p:txBody>
      </p:sp>
      <p:sp>
        <p:nvSpPr>
          <p:cNvPr id="4" name="cover-subtitle">
            <a:extLst xmlns:a="http://schemas.openxmlformats.org/drawingml/2006/main">
              <a:ext uri="{FF2B5EF4-FFF2-40B4-BE49-F238E27FC236}">
                <a16:creationId xmlns:a16="http://schemas.microsoft.com/office/drawing/2014/main" id="{68D9E5BA-5290-47FD-82BD-47DB527962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429125"/>
            <a:ext cx="9334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5F6368"/>
                </a:solidFill>
              </a:defRPr>
            </a:pPr>
            <a:r>
              <a:rPr sz="1800" b="0">
                <a:solidFill>
                  <a:srgbClr val="5F6368"/>
                </a:solidFill>
              </a:rPr>
              <a:t>從階層拆分到 streamer、QKV memory、QK accumulator 與 softmax datapath</a:t>
            </a:r>
          </a:p>
        </p:txBody>
      </p:sp>
      <p:sp>
        <p:nvSpPr>
          <p:cNvPr id="5" name="cover-note">
            <a:extLst xmlns:a="http://schemas.openxmlformats.org/drawingml/2006/main">
              <a:ext uri="{FF2B5EF4-FFF2-40B4-BE49-F238E27FC236}">
                <a16:creationId xmlns:a16="http://schemas.microsoft.com/office/drawing/2014/main" id="{2B4E3F77-0D38-4917-8E38-6FC6E3A415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86875" y="4953000"/>
            <a:ext cx="2505075" cy="1104900"/>
          </a:xfrm>
          <a:prstGeom xmlns:a="http://schemas.openxmlformats.org/drawingml/2006/main" prst="roundRect">
            <a:avLst>
              <a:gd name="adj" fmla="val 6897"/>
            </a:avLst>
          </a:prstGeom>
          <a:solidFill xmlns:a="http://schemas.openxmlformats.org/drawingml/2006/main">
            <a:srgbClr val="D0EDFA"/>
          </a:solidFill>
          <a:ln xmlns:a="http://schemas.openxmlformats.org/drawingml/2006/main" w="9525">
            <a:solidFill>
              <a:srgbClr val="D0EDFA"/>
            </a:solidFill>
            <a:prstDash val="solid"/>
          </a:ln>
        </p:spPr>
      </p:sp>
      <p:sp>
        <p:nvSpPr>
          <p:cNvPr id="6" name="cover-note-text">
            <a:extLst xmlns:a="http://schemas.openxmlformats.org/drawingml/2006/main">
              <a:ext uri="{FF2B5EF4-FFF2-40B4-BE49-F238E27FC236}">
                <a16:creationId xmlns:a16="http://schemas.microsoft.com/office/drawing/2014/main" id="{167C5F13-6156-4B3A-B668-26A34A306E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5162550"/>
            <a:ext cx="2028825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000000"/>
                </a:solidFill>
              </a:defRPr>
            </a:pPr>
            <a:r>
              <a:rPr sz="1500" b="1">
                <a:solidFill>
                  <a:srgbClr val="000000"/>
                </a:solidFill>
              </a:rPr>
              <a:t>RTL 對照</a:t>
            </a:r>
          </a:p>
          <a:p xmlns:a="http://schemas.openxmlformats.org/drawingml/2006/main">
            <a:pPr algn="l">
              <a:defRPr sz="1500" b="1">
                <a:solidFill>
                  <a:srgbClr val="000000"/>
                </a:solidFill>
              </a:defRPr>
            </a:pPr>
            <a:r>
              <a:rPr sz="1500" b="1">
                <a:solidFill>
                  <a:srgbClr val="000000"/>
                </a:solidFill>
              </a:rPr>
              <a:t>不含 I/O pin 與 net</a:t>
            </a:r>
          </a:p>
        </p:txBody>
      </p:sp>
    </p:spTree>
    <p:extLst>
      <p:ext uri="{BB962C8B-B14F-4D97-AF65-F5344CB8AC3E}">
        <p14:creationId xmlns:p14="http://schemas.microsoft.com/office/powerpoint/2010/main" val="466124361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kicker-2">
            <a:extLst xmlns:a="http://schemas.openxmlformats.org/drawingml/2006/main">
              <a:ext uri="{FF2B5EF4-FFF2-40B4-BE49-F238E27FC236}">
                <a16:creationId xmlns:a16="http://schemas.microsoft.com/office/drawing/2014/main" id="{B67B8139-E55D-422B-BA15-A309D534CA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66700"/>
            <a:ext cx="3810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5F6368"/>
                </a:solidFill>
              </a:defRPr>
            </a:pPr>
            <a:r>
              <a:rPr sz="1050" b="1">
                <a:solidFill>
                  <a:srgbClr val="5F6368"/>
                </a:solidFill>
              </a:rPr>
              <a:t>CHIP_TOP / RTL ARCHITECTURE</a:t>
            </a:r>
          </a:p>
        </p:txBody>
      </p:sp>
      <p:sp>
        <p:nvSpPr>
          <p:cNvPr id="2" name="title-2">
            <a:extLst xmlns:a="http://schemas.openxmlformats.org/drawingml/2006/main">
              <a:ext uri="{FF2B5EF4-FFF2-40B4-BE49-F238E27FC236}">
                <a16:creationId xmlns:a16="http://schemas.microsoft.com/office/drawing/2014/main" id="{ED36451E-0F72-470A-9497-7C480AEA41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23875"/>
            <a:ext cx="110490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850" b="0">
                <a:solidFill>
                  <a:srgbClr val="000000"/>
                </a:solidFill>
              </a:defRPr>
            </a:pPr>
            <a:r>
              <a:rPr sz="2850" b="0">
                <a:solidFill>
                  <a:srgbClr val="000000"/>
                </a:solidFill>
              </a:rPr>
              <a:t>chip_top 把控制、核心與資料路徑拆成三層</a:t>
            </a:r>
          </a:p>
        </p:txBody>
      </p:sp>
      <p:sp>
        <p:nvSpPr>
          <p:cNvPr id="3" name="accent-2">
            <a:extLst xmlns:a="http://schemas.openxmlformats.org/drawingml/2006/main">
              <a:ext uri="{FF2B5EF4-FFF2-40B4-BE49-F238E27FC236}">
                <a16:creationId xmlns:a16="http://schemas.microsoft.com/office/drawing/2014/main" id="{7614DCB4-F9D9-4F9D-89A9-3660B76AA3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219200"/>
            <a:ext cx="10477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solidFill>
              <a:srgbClr val="3D8DFF"/>
            </a:solidFill>
            <a:prstDash val="solid"/>
          </a:ln>
        </p:spPr>
      </p:sp>
      <p:sp>
        <p:nvSpPr>
          <p:cNvPr id="4" name="page-2">
            <a:extLst xmlns:a="http://schemas.openxmlformats.org/drawingml/2006/main">
              <a:ext uri="{FF2B5EF4-FFF2-40B4-BE49-F238E27FC236}">
                <a16:creationId xmlns:a16="http://schemas.microsoft.com/office/drawing/2014/main" id="{3479A77D-FC0A-44BF-BE92-FFD8CFF4C9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334125"/>
            <a:ext cx="5524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5F6368"/>
                </a:solidFill>
              </a:defRPr>
            </a:pPr>
            <a:r>
              <a:rPr sz="975" b="0">
                <a:solidFill>
                  <a:srgbClr val="5F6368"/>
                </a:solidFill>
              </a:rPr>
              <a:t>02</a:t>
            </a:r>
          </a:p>
        </p:txBody>
      </p:sp>
      <p:sp>
        <p:nvSpPr>
          <p:cNvPr id="5" name="hierarchy-big">
            <a:extLst xmlns:a="http://schemas.openxmlformats.org/drawingml/2006/main">
              <a:ext uri="{FF2B5EF4-FFF2-40B4-BE49-F238E27FC236}">
                <a16:creationId xmlns:a16="http://schemas.microsoft.com/office/drawing/2014/main" id="{8172CED5-FE19-4228-ADDB-1E03688744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952625"/>
            <a:ext cx="31432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4500" b="1">
                <a:solidFill>
                  <a:srgbClr val="000000"/>
                </a:solidFill>
              </a:defRPr>
            </a:pPr>
            <a:r>
              <a:rPr sz="4500" b="1">
                <a:solidFill>
                  <a:srgbClr val="000000"/>
                </a:solidFill>
              </a:rPr>
              <a:t>3 層</a:t>
            </a:r>
          </a:p>
        </p:txBody>
      </p:sp>
      <p:sp>
        <p:nvSpPr>
          <p:cNvPr id="6" name="hierarchy-explainer">
            <a:extLst xmlns:a="http://schemas.openxmlformats.org/drawingml/2006/main">
              <a:ext uri="{FF2B5EF4-FFF2-40B4-BE49-F238E27FC236}">
                <a16:creationId xmlns:a16="http://schemas.microsoft.com/office/drawing/2014/main" id="{C64867F2-3BF6-49E5-850A-723F222B8C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086100"/>
            <a:ext cx="3143250" cy="1809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5F6368"/>
                </a:solidFill>
              </a:defRPr>
            </a:pPr>
            <a:r>
              <a:rPr sz="1650" b="0">
                <a:solidFill>
                  <a:srgbClr val="5F6368"/>
                </a:solidFill>
              </a:rPr>
              <a:t>主體只有一個 sparse_attention_core instance；其餘 bus、reset 與 result FIFO 直接寫在 top 內。</a:t>
            </a:r>
          </a:p>
        </p:txBody>
      </p:sp>
      <p:sp>
        <p:nvSpPr>
          <p:cNvPr id="7" name="layer-top">
            <a:extLst xmlns:a="http://schemas.openxmlformats.org/drawingml/2006/main">
              <a:ext uri="{FF2B5EF4-FFF2-40B4-BE49-F238E27FC236}">
                <a16:creationId xmlns:a16="http://schemas.microsoft.com/office/drawing/2014/main" id="{B5EB0A47-2950-4C15-8954-8A4065444F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24375" y="1857375"/>
            <a:ext cx="7000875" cy="1123950"/>
          </a:xfrm>
          <a:prstGeom xmlns:a="http://schemas.openxmlformats.org/drawingml/2006/main" prst="roundRect">
            <a:avLst>
              <a:gd name="adj" fmla="val 6780"/>
            </a:avLst>
          </a:prstGeom>
          <a:solidFill xmlns:a="http://schemas.openxmlformats.org/drawingml/2006/main">
            <a:srgbClr val="F7F7F7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8" name="layer-top-title">
            <a:extLst xmlns:a="http://schemas.openxmlformats.org/drawingml/2006/main">
              <a:ext uri="{FF2B5EF4-FFF2-40B4-BE49-F238E27FC236}">
                <a16:creationId xmlns:a16="http://schemas.microsoft.com/office/drawing/2014/main" id="{13B56F5C-C638-4E62-982A-6992CB2C2E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91075" y="2047875"/>
            <a:ext cx="2000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000000"/>
                </a:solidFill>
              </a:defRPr>
            </a:pPr>
            <a:r>
              <a:rPr sz="1800" b="1">
                <a:solidFill>
                  <a:srgbClr val="000000"/>
                </a:solidFill>
              </a:rPr>
              <a:t>L1  chip_top</a:t>
            </a:r>
          </a:p>
        </p:txBody>
      </p:sp>
      <p:sp>
        <p:nvSpPr>
          <p:cNvPr id="9" name="layer-top-body">
            <a:extLst xmlns:a="http://schemas.openxmlformats.org/drawingml/2006/main">
              <a:ext uri="{FF2B5EF4-FFF2-40B4-BE49-F238E27FC236}">
                <a16:creationId xmlns:a16="http://schemas.microsoft.com/office/drawing/2014/main" id="{04764A54-0657-4730-81D8-658901AFF4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96125" y="2038350"/>
            <a:ext cx="4048125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F6368"/>
                </a:solidFill>
              </a:defRPr>
            </a:pPr>
            <a:r>
              <a:rPr sz="1350" b="0">
                <a:solidFill>
                  <a:srgbClr val="5F6368"/>
                </a:solidFill>
              </a:rPr>
              <a:t>Bus/register control · reset synchronizer · result FIFO · sparse core wrapper</a:t>
            </a:r>
          </a:p>
        </p:txBody>
      </p:sp>
      <p:sp>
        <p:nvSpPr>
          <p:cNvPr id="10" name="layer-core">
            <a:extLst xmlns:a="http://schemas.openxmlformats.org/drawingml/2006/main">
              <a:ext uri="{FF2B5EF4-FFF2-40B4-BE49-F238E27FC236}">
                <a16:creationId xmlns:a16="http://schemas.microsoft.com/office/drawing/2014/main" id="{8B71152B-4392-4982-9196-F12BD412E1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24375" y="3209925"/>
            <a:ext cx="7000875" cy="1123950"/>
          </a:xfrm>
          <a:prstGeom xmlns:a="http://schemas.openxmlformats.org/drawingml/2006/main" prst="roundRect">
            <a:avLst>
              <a:gd name="adj" fmla="val 6780"/>
            </a:avLst>
          </a:prstGeom>
          <a:solidFill xmlns:a="http://schemas.openxmlformats.org/drawingml/2006/main">
            <a:srgbClr val="EDEDED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1" name="layer-core-title">
            <a:extLst xmlns:a="http://schemas.openxmlformats.org/drawingml/2006/main">
              <a:ext uri="{FF2B5EF4-FFF2-40B4-BE49-F238E27FC236}">
                <a16:creationId xmlns:a16="http://schemas.microsoft.com/office/drawing/2014/main" id="{DB1407B8-EAB9-48CB-A407-2ABFA4AF67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91075" y="3400425"/>
            <a:ext cx="25717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000000"/>
                </a:solidFill>
              </a:defRPr>
            </a:pPr>
            <a:r>
              <a:rPr sz="1800" b="1">
                <a:solidFill>
                  <a:srgbClr val="000000"/>
                </a:solidFill>
              </a:rPr>
              <a:t>L2  sparse_attention_core</a:t>
            </a:r>
          </a:p>
        </p:txBody>
      </p:sp>
      <p:sp>
        <p:nvSpPr>
          <p:cNvPr id="12" name="layer-core-body">
            <a:extLst xmlns:a="http://schemas.openxmlformats.org/drawingml/2006/main">
              <a:ext uri="{FF2B5EF4-FFF2-40B4-BE49-F238E27FC236}">
                <a16:creationId xmlns:a16="http://schemas.microsoft.com/office/drawing/2014/main" id="{434CF897-4BA9-4AE8-A18F-999D25650C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67625" y="3390900"/>
            <a:ext cx="3476625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F6368"/>
                </a:solidFill>
              </a:defRPr>
            </a:pPr>
            <a:r>
              <a:rPr sz="1350" b="0">
                <a:solidFill>
                  <a:srgbClr val="5F6368"/>
                </a:solidFill>
              </a:rPr>
              <a:t>Pair streamer · QKV memory · QK accumulator · sparse softmax/SV · stats</a:t>
            </a:r>
          </a:p>
        </p:txBody>
      </p:sp>
      <p:sp>
        <p:nvSpPr>
          <p:cNvPr id="13" name="layer-streamer">
            <a:extLst xmlns:a="http://schemas.openxmlformats.org/drawingml/2006/main">
              <a:ext uri="{FF2B5EF4-FFF2-40B4-BE49-F238E27FC236}">
                <a16:creationId xmlns:a16="http://schemas.microsoft.com/office/drawing/2014/main" id="{BB7FF277-AFDE-4B9A-A7E3-BF717841CE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24375" y="4562475"/>
            <a:ext cx="7000875" cy="1123950"/>
          </a:xfrm>
          <a:prstGeom xmlns:a="http://schemas.openxmlformats.org/drawingml/2006/main" prst="roundRect">
            <a:avLst>
              <a:gd name="adj" fmla="val 6780"/>
            </a:avLst>
          </a:prstGeom>
          <a:solidFill xmlns:a="http://schemas.openxmlformats.org/drawingml/2006/main">
            <a:srgbClr val="D0EDFA"/>
          </a:solidFill>
          <a:ln xmlns:a="http://schemas.openxmlformats.org/drawingml/2006/main" w="9525">
            <a:solidFill>
              <a:srgbClr val="3D8DFF"/>
            </a:solidFill>
            <a:prstDash val="solid"/>
          </a:ln>
        </p:spPr>
      </p:sp>
      <p:sp>
        <p:nvSpPr>
          <p:cNvPr id="14" name="layer-streamer-title">
            <a:extLst xmlns:a="http://schemas.openxmlformats.org/drawingml/2006/main">
              <a:ext uri="{FF2B5EF4-FFF2-40B4-BE49-F238E27FC236}">
                <a16:creationId xmlns:a16="http://schemas.microsoft.com/office/drawing/2014/main" id="{314D6822-BD45-41E9-92D9-BAB89C772C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91075" y="4752975"/>
            <a:ext cx="25717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000000"/>
                </a:solidFill>
              </a:defRPr>
            </a:pPr>
            <a:r>
              <a:rPr sz="1800" b="1">
                <a:solidFill>
                  <a:srgbClr val="000000"/>
                </a:solidFill>
              </a:rPr>
              <a:t>L3  qk_pair_streamer</a:t>
            </a:r>
          </a:p>
        </p:txBody>
      </p:sp>
      <p:sp>
        <p:nvSpPr>
          <p:cNvPr id="15" name="layer-streamer-body">
            <a:extLst xmlns:a="http://schemas.openxmlformats.org/drawingml/2006/main">
              <a:ext uri="{FF2B5EF4-FFF2-40B4-BE49-F238E27FC236}">
                <a16:creationId xmlns:a16="http://schemas.microsoft.com/office/drawing/2014/main" id="{5F11BA2F-F570-4B4C-BF91-1593B7E876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67625" y="4743450"/>
            <a:ext cx="3476625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000000"/>
                </a:solidFill>
              </a:defRPr>
            </a:pPr>
            <a:r>
              <a:rPr sz="1350" b="0">
                <a:solidFill>
                  <a:srgbClr val="000000"/>
                </a:solidFill>
              </a:rPr>
              <a:t>pattern_controller + 4 組 KV_LBV2 line-buffer bank；預設共 17 個 instance</a:t>
            </a:r>
          </a:p>
        </p:txBody>
      </p:sp>
      <p:sp>
        <p:nvSpPr>
          <p:cNvPr id="16" name="hierarchy-foot">
            <a:extLst xmlns:a="http://schemas.openxmlformats.org/drawingml/2006/main">
              <a:ext uri="{FF2B5EF4-FFF2-40B4-BE49-F238E27FC236}">
                <a16:creationId xmlns:a16="http://schemas.microsoft.com/office/drawing/2014/main" id="{AC830357-546D-4CD6-94E6-23A8E7C64E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772150"/>
            <a:ext cx="8572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F6368"/>
                </a:solidFill>
              </a:defRPr>
            </a:pPr>
            <a:r>
              <a:rPr sz="1275" b="0">
                <a:solidFill>
                  <a:srgbClr val="5F6368"/>
                </a:solidFill>
              </a:rPr>
              <a:t>閱讀方式：先看誰負責 pair，再看 feature、score 與 context 如何各自落在不同模組。</a:t>
            </a:r>
          </a:p>
        </p:txBody>
      </p:sp>
    </p:spTree>
    <p:extLst>
      <p:ext uri="{BB962C8B-B14F-4D97-AF65-F5344CB8AC3E}">
        <p14:creationId xmlns:p14="http://schemas.microsoft.com/office/powerpoint/2010/main" val="309537283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kicker-3">
            <a:extLst xmlns:a="http://schemas.openxmlformats.org/drawingml/2006/main">
              <a:ext uri="{FF2B5EF4-FFF2-40B4-BE49-F238E27FC236}">
                <a16:creationId xmlns:a16="http://schemas.microsoft.com/office/drawing/2014/main" id="{14C3DDD8-D920-4DF1-9C98-C24EE1F6D6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66700"/>
            <a:ext cx="3810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5F6368"/>
                </a:solidFill>
              </a:defRPr>
            </a:pPr>
            <a:r>
              <a:rPr sz="1050" b="1">
                <a:solidFill>
                  <a:srgbClr val="5F6368"/>
                </a:solidFill>
              </a:rPr>
              <a:t>CHIP_TOP / RTL ARCHITECTURE</a:t>
            </a:r>
          </a:p>
        </p:txBody>
      </p:sp>
      <p:sp>
        <p:nvSpPr>
          <p:cNvPr id="2" name="title-3">
            <a:extLst xmlns:a="http://schemas.openxmlformats.org/drawingml/2006/main">
              <a:ext uri="{FF2B5EF4-FFF2-40B4-BE49-F238E27FC236}">
                <a16:creationId xmlns:a16="http://schemas.microsoft.com/office/drawing/2014/main" id="{F9A56CF5-FECA-4CA7-B7C8-2A19DBAA99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23875"/>
            <a:ext cx="110490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850" b="0">
                <a:solidFill>
                  <a:srgbClr val="000000"/>
                </a:solidFill>
              </a:defRPr>
            </a:pPr>
            <a:r>
              <a:rPr sz="2850" b="0">
                <a:solidFill>
                  <a:srgbClr val="000000"/>
                </a:solidFill>
              </a:rPr>
              <a:t>核心以五個子模組完成 pair → score → context</a:t>
            </a:r>
          </a:p>
        </p:txBody>
      </p:sp>
      <p:sp>
        <p:nvSpPr>
          <p:cNvPr id="3" name="accent-3">
            <a:extLst xmlns:a="http://schemas.openxmlformats.org/drawingml/2006/main">
              <a:ext uri="{FF2B5EF4-FFF2-40B4-BE49-F238E27FC236}">
                <a16:creationId xmlns:a16="http://schemas.microsoft.com/office/drawing/2014/main" id="{0500A7CF-6B77-45FD-BA55-FF7F3DCD08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219200"/>
            <a:ext cx="10477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solidFill>
              <a:srgbClr val="3D8DFF"/>
            </a:solidFill>
            <a:prstDash val="solid"/>
          </a:ln>
        </p:spPr>
      </p:sp>
      <p:sp>
        <p:nvSpPr>
          <p:cNvPr id="4" name="page-3">
            <a:extLst xmlns:a="http://schemas.openxmlformats.org/drawingml/2006/main">
              <a:ext uri="{FF2B5EF4-FFF2-40B4-BE49-F238E27FC236}">
                <a16:creationId xmlns:a16="http://schemas.microsoft.com/office/drawing/2014/main" id="{31F9F588-9516-4400-BB8A-0046DF91D7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334125"/>
            <a:ext cx="5524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5F6368"/>
                </a:solidFill>
              </a:defRPr>
            </a:pPr>
            <a:r>
              <a:rPr sz="975" b="0">
                <a:solidFill>
                  <a:srgbClr val="5F6368"/>
                </a:solidFill>
              </a:rPr>
              <a:t>03</a:t>
            </a:r>
          </a:p>
        </p:txBody>
      </p:sp>
      <p:sp>
        <p:nvSpPr>
          <p:cNvPr id="5" name="box-u_qk_pair_streamer">
            <a:extLst xmlns:a="http://schemas.openxmlformats.org/drawingml/2006/main">
              <a:ext uri="{FF2B5EF4-FFF2-40B4-BE49-F238E27FC236}">
                <a16:creationId xmlns:a16="http://schemas.microsoft.com/office/drawing/2014/main" id="{E98797FA-8CDA-42BD-8710-9F81A2C9FD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762125"/>
            <a:ext cx="2143125" cy="1762125"/>
          </a:xfrm>
          <a:prstGeom xmlns:a="http://schemas.openxmlformats.org/drawingml/2006/main" prst="roundRect">
            <a:avLst>
              <a:gd name="adj" fmla="val 4324"/>
            </a:avLst>
          </a:prstGeom>
          <a:solidFill xmlns:a="http://schemas.openxmlformats.org/drawingml/2006/main">
            <a:srgbClr val="D0EDFA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6" name="name-u_qk_pair_streamer">
            <a:extLst xmlns:a="http://schemas.openxmlformats.org/drawingml/2006/main">
              <a:ext uri="{FF2B5EF4-FFF2-40B4-BE49-F238E27FC236}">
                <a16:creationId xmlns:a16="http://schemas.microsoft.com/office/drawing/2014/main" id="{198D15AE-FFDB-499D-864C-4C6829026C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933575"/>
            <a:ext cx="17240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00000"/>
                </a:solidFill>
              </a:defRPr>
            </a:pPr>
            <a:r>
              <a:rPr sz="1350" b="1">
                <a:solidFill>
                  <a:srgbClr val="000000"/>
                </a:solidFill>
              </a:rPr>
              <a:t>qk_pair_streamer</a:t>
            </a:r>
          </a:p>
        </p:txBody>
      </p:sp>
      <p:sp>
        <p:nvSpPr>
          <p:cNvPr id="7" name="instance-u_qk_pair_streamer">
            <a:extLst xmlns:a="http://schemas.openxmlformats.org/drawingml/2006/main">
              <a:ext uri="{FF2B5EF4-FFF2-40B4-BE49-F238E27FC236}">
                <a16:creationId xmlns:a16="http://schemas.microsoft.com/office/drawing/2014/main" id="{AF68C7B4-2395-412D-82C0-FFCA2EEAAF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47900"/>
            <a:ext cx="172402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3D8DFF"/>
                </a:solidFill>
              </a:defRPr>
            </a:pPr>
            <a:r>
              <a:rPr sz="900" b="0">
                <a:solidFill>
                  <a:srgbClr val="3D8DFF"/>
                </a:solidFill>
              </a:rPr>
              <a:t>u_qk_pair_streamer</a:t>
            </a:r>
          </a:p>
        </p:txBody>
      </p:sp>
      <p:sp>
        <p:nvSpPr>
          <p:cNvPr id="8" name="desc-u_qk_pair_streamer">
            <a:extLst xmlns:a="http://schemas.openxmlformats.org/drawingml/2006/main">
              <a:ext uri="{FF2B5EF4-FFF2-40B4-BE49-F238E27FC236}">
                <a16:creationId xmlns:a16="http://schemas.microsoft.com/office/drawing/2014/main" id="{B10ECEFD-12D7-44CB-A83A-460554CA7E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543175"/>
            <a:ext cx="1724025" cy="828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F6368"/>
                </a:solidFill>
              </a:defRPr>
            </a:pPr>
            <a:r>
              <a:rPr sz="1200" b="0">
                <a:solidFill>
                  <a:srgbClr val="5F6368"/>
                </a:solidFill>
              </a:rPr>
              <a:t>依 attention mode 產生 q_idx / k_idx，並管理 line-buffer phase。</a:t>
            </a:r>
          </a:p>
        </p:txBody>
      </p:sp>
      <p:sp>
        <p:nvSpPr>
          <p:cNvPr id="9" name="box-u_qkv_feature_mem">
            <a:extLst xmlns:a="http://schemas.openxmlformats.org/drawingml/2006/main">
              <a:ext uri="{FF2B5EF4-FFF2-40B4-BE49-F238E27FC236}">
                <a16:creationId xmlns:a16="http://schemas.microsoft.com/office/drawing/2014/main" id="{482E9101-E602-437B-921D-29F3EA1E49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14625" y="1762125"/>
            <a:ext cx="2143125" cy="1762125"/>
          </a:xfrm>
          <a:prstGeom xmlns:a="http://schemas.openxmlformats.org/drawingml/2006/main" prst="roundRect">
            <a:avLst>
              <a:gd name="adj" fmla="val 4324"/>
            </a:avLst>
          </a:prstGeom>
          <a:solidFill xmlns:a="http://schemas.openxmlformats.org/drawingml/2006/main">
            <a:srgbClr val="F7F7F7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0" name="name-u_qkv_feature_mem">
            <a:extLst xmlns:a="http://schemas.openxmlformats.org/drawingml/2006/main">
              <a:ext uri="{FF2B5EF4-FFF2-40B4-BE49-F238E27FC236}">
                <a16:creationId xmlns:a16="http://schemas.microsoft.com/office/drawing/2014/main" id="{5F8CFF54-76A8-444C-A115-5FF822453C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24175" y="1933575"/>
            <a:ext cx="17240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00000"/>
                </a:solidFill>
              </a:defRPr>
            </a:pPr>
            <a:r>
              <a:rPr sz="1350" b="1">
                <a:solidFill>
                  <a:srgbClr val="000000"/>
                </a:solidFill>
              </a:rPr>
              <a:t>qkv_feature_mem</a:t>
            </a:r>
          </a:p>
        </p:txBody>
      </p:sp>
      <p:sp>
        <p:nvSpPr>
          <p:cNvPr id="11" name="instance-u_qkv_feature_mem">
            <a:extLst xmlns:a="http://schemas.openxmlformats.org/drawingml/2006/main">
              <a:ext uri="{FF2B5EF4-FFF2-40B4-BE49-F238E27FC236}">
                <a16:creationId xmlns:a16="http://schemas.microsoft.com/office/drawing/2014/main" id="{7F14DBAB-A2CB-48CD-AFA8-B2DA3320BC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24175" y="2247900"/>
            <a:ext cx="172402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3D8DFF"/>
                </a:solidFill>
              </a:defRPr>
            </a:pPr>
            <a:r>
              <a:rPr sz="900" b="0">
                <a:solidFill>
                  <a:srgbClr val="3D8DFF"/>
                </a:solidFill>
              </a:rPr>
              <a:t>u_qkv_feature_mem</a:t>
            </a:r>
          </a:p>
        </p:txBody>
      </p:sp>
      <p:sp>
        <p:nvSpPr>
          <p:cNvPr id="12" name="desc-u_qkv_feature_mem">
            <a:extLst xmlns:a="http://schemas.openxmlformats.org/drawingml/2006/main">
              <a:ext uri="{FF2B5EF4-FFF2-40B4-BE49-F238E27FC236}">
                <a16:creationId xmlns:a16="http://schemas.microsoft.com/office/drawing/2014/main" id="{1F8ADA90-8D15-408D-BA2E-2B2691F70E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24175" y="2543175"/>
            <a:ext cx="1724025" cy="828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F6368"/>
                </a:solidFill>
              </a:defRPr>
            </a:pPr>
            <a:r>
              <a:rPr sz="1200" b="0">
                <a:solidFill>
                  <a:srgbClr val="5F6368"/>
                </a:solidFill>
              </a:rPr>
              <a:t>保存 Q/K/V feature；依 token index 組成完整 feature vector。</a:t>
            </a:r>
          </a:p>
        </p:txBody>
      </p:sp>
      <p:sp>
        <p:nvSpPr>
          <p:cNvPr id="13" name="box-u_qk_dot_accumulator">
            <a:extLst xmlns:a="http://schemas.openxmlformats.org/drawingml/2006/main">
              <a:ext uri="{FF2B5EF4-FFF2-40B4-BE49-F238E27FC236}">
                <a16:creationId xmlns:a16="http://schemas.microsoft.com/office/drawing/2014/main" id="{28AA04BB-63D1-41AD-9453-8F10114D34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0" y="1762125"/>
            <a:ext cx="2143125" cy="1762125"/>
          </a:xfrm>
          <a:prstGeom xmlns:a="http://schemas.openxmlformats.org/drawingml/2006/main" prst="roundRect">
            <a:avLst>
              <a:gd name="adj" fmla="val 4324"/>
            </a:avLst>
          </a:prstGeom>
          <a:solidFill xmlns:a="http://schemas.openxmlformats.org/drawingml/2006/main">
            <a:srgbClr val="F7F7F7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4" name="name-u_qk_dot_accumulator">
            <a:extLst xmlns:a="http://schemas.openxmlformats.org/drawingml/2006/main">
              <a:ext uri="{FF2B5EF4-FFF2-40B4-BE49-F238E27FC236}">
                <a16:creationId xmlns:a16="http://schemas.microsoft.com/office/drawing/2014/main" id="{21BDDC24-2384-4FF2-8DAA-546872E855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0" y="1933575"/>
            <a:ext cx="17240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00000"/>
                </a:solidFill>
              </a:defRPr>
            </a:pPr>
            <a:r>
              <a:rPr sz="1350" b="1">
                <a:solidFill>
                  <a:srgbClr val="000000"/>
                </a:solidFill>
              </a:rPr>
              <a:t>qk_dot_accumulator</a:t>
            </a:r>
          </a:p>
        </p:txBody>
      </p:sp>
      <p:sp>
        <p:nvSpPr>
          <p:cNvPr id="15" name="instance-u_qk_dot_accumulator">
            <a:extLst xmlns:a="http://schemas.openxmlformats.org/drawingml/2006/main">
              <a:ext uri="{FF2B5EF4-FFF2-40B4-BE49-F238E27FC236}">
                <a16:creationId xmlns:a16="http://schemas.microsoft.com/office/drawing/2014/main" id="{9DAAB7F5-02B6-4406-8305-8330EDD180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0" y="2247900"/>
            <a:ext cx="172402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3D8DFF"/>
                </a:solidFill>
              </a:defRPr>
            </a:pPr>
            <a:r>
              <a:rPr sz="900" b="0">
                <a:solidFill>
                  <a:srgbClr val="3D8DFF"/>
                </a:solidFill>
              </a:rPr>
              <a:t>u_qk_dot_accumulator</a:t>
            </a:r>
          </a:p>
        </p:txBody>
      </p:sp>
      <p:sp>
        <p:nvSpPr>
          <p:cNvPr id="16" name="desc-u_qk_dot_accumulator">
            <a:extLst xmlns:a="http://schemas.openxmlformats.org/drawingml/2006/main">
              <a:ext uri="{FF2B5EF4-FFF2-40B4-BE49-F238E27FC236}">
                <a16:creationId xmlns:a16="http://schemas.microsoft.com/office/drawing/2014/main" id="{B1BC7405-9494-44BB-BF27-28D6D2F688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0" y="2543175"/>
            <a:ext cx="1724025" cy="828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F6368"/>
                </a:solidFill>
              </a:defRPr>
            </a:pPr>
            <a:r>
              <a:rPr sz="1200" b="0">
                <a:solidFill>
                  <a:srgbClr val="5F6368"/>
                </a:solidFill>
              </a:rPr>
              <a:t>平行乘法、product register 與加總輸出 attention score。</a:t>
            </a:r>
          </a:p>
        </p:txBody>
      </p:sp>
      <p:sp>
        <p:nvSpPr>
          <p:cNvPr id="17" name="box-u_sparse_softmax_sv">
            <a:extLst xmlns:a="http://schemas.openxmlformats.org/drawingml/2006/main">
              <a:ext uri="{FF2B5EF4-FFF2-40B4-BE49-F238E27FC236}">
                <a16:creationId xmlns:a16="http://schemas.microsoft.com/office/drawing/2014/main" id="{CEB23C1D-FE07-4DBE-A5D2-5B454D2677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43775" y="1762125"/>
            <a:ext cx="2714625" cy="1762125"/>
          </a:xfrm>
          <a:prstGeom xmlns:a="http://schemas.openxmlformats.org/drawingml/2006/main" prst="roundRect">
            <a:avLst>
              <a:gd name="adj" fmla="val 4324"/>
            </a:avLst>
          </a:prstGeom>
          <a:solidFill xmlns:a="http://schemas.openxmlformats.org/drawingml/2006/main">
            <a:srgbClr val="D0EDFA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8" name="name-u_sparse_softmax_sv">
            <a:extLst xmlns:a="http://schemas.openxmlformats.org/drawingml/2006/main">
              <a:ext uri="{FF2B5EF4-FFF2-40B4-BE49-F238E27FC236}">
                <a16:creationId xmlns:a16="http://schemas.microsoft.com/office/drawing/2014/main" id="{1D36A75D-87D9-495D-86EC-BA70E0C657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53325" y="1933575"/>
            <a:ext cx="22955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00000"/>
                </a:solidFill>
              </a:defRPr>
            </a:pPr>
            <a:r>
              <a:rPr sz="1350" b="1">
                <a:solidFill>
                  <a:srgbClr val="000000"/>
                </a:solidFill>
              </a:rPr>
              <a:t>sparse_softmax_sv</a:t>
            </a:r>
          </a:p>
        </p:txBody>
      </p:sp>
      <p:sp>
        <p:nvSpPr>
          <p:cNvPr id="19" name="instance-u_sparse_softmax_sv">
            <a:extLst xmlns:a="http://schemas.openxmlformats.org/drawingml/2006/main">
              <a:ext uri="{FF2B5EF4-FFF2-40B4-BE49-F238E27FC236}">
                <a16:creationId xmlns:a16="http://schemas.microsoft.com/office/drawing/2014/main" id="{DD4F35E7-B0C8-4997-B801-C72A08E020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53325" y="2247900"/>
            <a:ext cx="229552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3D8DFF"/>
                </a:solidFill>
              </a:defRPr>
            </a:pPr>
            <a:r>
              <a:rPr sz="900" b="0">
                <a:solidFill>
                  <a:srgbClr val="3D8DFF"/>
                </a:solidFill>
              </a:rPr>
              <a:t>u_sparse_softmax_sv</a:t>
            </a:r>
          </a:p>
        </p:txBody>
      </p:sp>
      <p:sp>
        <p:nvSpPr>
          <p:cNvPr id="20" name="desc-u_sparse_softmax_sv">
            <a:extLst xmlns:a="http://schemas.openxmlformats.org/drawingml/2006/main">
              <a:ext uri="{FF2B5EF4-FFF2-40B4-BE49-F238E27FC236}">
                <a16:creationId xmlns:a16="http://schemas.microsoft.com/office/drawing/2014/main" id="{A730CA8F-2218-4177-8FA4-DD6DFCFE0D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53325" y="2543175"/>
            <a:ext cx="2295525" cy="828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F6368"/>
                </a:solidFill>
              </a:defRPr>
            </a:pPr>
            <a:r>
              <a:rPr sz="1200" b="0">
                <a:solidFill>
                  <a:srgbClr val="5F6368"/>
                </a:solidFill>
              </a:rPr>
              <a:t>線上 softmax 累積、逐 feature context 計算與除法輸出。</a:t>
            </a:r>
          </a:p>
        </p:txBody>
      </p:sp>
      <p:sp>
        <p:nvSpPr>
          <p:cNvPr id="21" name="box-u_stats_counter">
            <a:extLst xmlns:a="http://schemas.openxmlformats.org/drawingml/2006/main">
              <a:ext uri="{FF2B5EF4-FFF2-40B4-BE49-F238E27FC236}">
                <a16:creationId xmlns:a16="http://schemas.microsoft.com/office/drawing/2014/main" id="{A329017A-BAEB-4228-A0C0-7336D00BD7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1762125"/>
            <a:ext cx="1695450" cy="1762125"/>
          </a:xfrm>
          <a:prstGeom xmlns:a="http://schemas.openxmlformats.org/drawingml/2006/main" prst="roundRect">
            <a:avLst>
              <a:gd name="adj" fmla="val 4494"/>
            </a:avLst>
          </a:prstGeom>
          <a:solidFill xmlns:a="http://schemas.openxmlformats.org/drawingml/2006/main">
            <a:srgbClr val="F7F7F7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22" name="name-u_stats_counter">
            <a:extLst xmlns:a="http://schemas.openxmlformats.org/drawingml/2006/main">
              <a:ext uri="{FF2B5EF4-FFF2-40B4-BE49-F238E27FC236}">
                <a16:creationId xmlns:a16="http://schemas.microsoft.com/office/drawing/2014/main" id="{8370155A-AADB-4067-A77F-72E6C535A9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06050" y="1933575"/>
            <a:ext cx="12763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00000"/>
                </a:solidFill>
              </a:defRPr>
            </a:pPr>
            <a:r>
              <a:rPr sz="1350" b="1">
                <a:solidFill>
                  <a:srgbClr val="000000"/>
                </a:solidFill>
              </a:rPr>
              <a:t>stats_counter</a:t>
            </a:r>
          </a:p>
        </p:txBody>
      </p:sp>
      <p:sp>
        <p:nvSpPr>
          <p:cNvPr id="23" name="instance-u_stats_counter">
            <a:extLst xmlns:a="http://schemas.openxmlformats.org/drawingml/2006/main">
              <a:ext uri="{FF2B5EF4-FFF2-40B4-BE49-F238E27FC236}">
                <a16:creationId xmlns:a16="http://schemas.microsoft.com/office/drawing/2014/main" id="{A696265B-5117-4214-87FF-D9F21A2569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06050" y="2247900"/>
            <a:ext cx="12763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3D8DFF"/>
                </a:solidFill>
              </a:defRPr>
            </a:pPr>
            <a:r>
              <a:rPr sz="900" b="0">
                <a:solidFill>
                  <a:srgbClr val="3D8DFF"/>
                </a:solidFill>
              </a:rPr>
              <a:t>u_stats_counter</a:t>
            </a:r>
          </a:p>
        </p:txBody>
      </p:sp>
      <p:sp>
        <p:nvSpPr>
          <p:cNvPr id="24" name="desc-u_stats_counter">
            <a:extLst xmlns:a="http://schemas.openxmlformats.org/drawingml/2006/main">
              <a:ext uri="{FF2B5EF4-FFF2-40B4-BE49-F238E27FC236}">
                <a16:creationId xmlns:a16="http://schemas.microsoft.com/office/drawing/2014/main" id="{5F5B7C8D-904E-48A1-A929-FA82FA5FDE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06050" y="2543175"/>
            <a:ext cx="1276350" cy="828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F6368"/>
                </a:solidFill>
              </a:defRPr>
            </a:pPr>
            <a:r>
              <a:rPr sz="1200" b="0">
                <a:solidFill>
                  <a:srgbClr val="5F6368"/>
                </a:solidFill>
              </a:rPr>
              <a:t>統計 pair、cycle 與 MAC。</a:t>
            </a:r>
          </a:p>
        </p:txBody>
      </p:sp>
      <p:sp>
        <p:nvSpPr>
          <p:cNvPr id="25" name="core-owned">
            <a:extLst xmlns:a="http://schemas.openxmlformats.org/drawingml/2006/main">
              <a:ext uri="{FF2B5EF4-FFF2-40B4-BE49-F238E27FC236}">
                <a16:creationId xmlns:a16="http://schemas.microsoft.com/office/drawing/2014/main" id="{1AA2E6F1-A98D-4743-98E5-7CECB24C64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14625" y="4095750"/>
            <a:ext cx="7343775" cy="1352550"/>
          </a:xfrm>
          <a:prstGeom xmlns:a="http://schemas.openxmlformats.org/drawingml/2006/main" prst="roundRect">
            <a:avLst>
              <a:gd name="adj" fmla="val 5634"/>
            </a:avLst>
          </a:prstGeom>
          <a:solidFill xmlns:a="http://schemas.openxmlformats.org/drawingml/2006/main">
            <a:srgbClr val="EDEDED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26" name="core-owned-title">
            <a:extLst xmlns:a="http://schemas.openxmlformats.org/drawingml/2006/main">
              <a:ext uri="{FF2B5EF4-FFF2-40B4-BE49-F238E27FC236}">
                <a16:creationId xmlns:a16="http://schemas.microsoft.com/office/drawing/2014/main" id="{CCFBC294-F862-43E7-976F-5CC0B5FBB1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0375" y="4352925"/>
            <a:ext cx="3048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000000"/>
                </a:solidFill>
              </a:defRPr>
            </a:pPr>
            <a:r>
              <a:rPr sz="1800" b="1">
                <a:solidFill>
                  <a:srgbClr val="000000"/>
                </a:solidFill>
              </a:rPr>
              <a:t>Core-owned pipeline control</a:t>
            </a:r>
          </a:p>
        </p:txBody>
      </p:sp>
      <p:sp>
        <p:nvSpPr>
          <p:cNvPr id="27" name="core-owned-body">
            <a:extLst xmlns:a="http://schemas.openxmlformats.org/drawingml/2006/main">
              <a:ext uri="{FF2B5EF4-FFF2-40B4-BE49-F238E27FC236}">
                <a16:creationId xmlns:a16="http://schemas.microsoft.com/office/drawing/2014/main" id="{146F36E7-E8D0-406F-B8D8-357D7AB11E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0375" y="4772025"/>
            <a:ext cx="6667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F6368"/>
                </a:solidFill>
              </a:defRPr>
            </a:pPr>
            <a:r>
              <a:rPr sz="1350" b="0">
                <a:solidFill>
                  <a:srgbClr val="5F6368"/>
                </a:solidFill>
              </a:rPr>
              <a:t>pipeline_ready = score_ready &amp;&amp; softmax_score_ready；另外以 done_delay0 / done_delay1 對齊 score collection 完成時點。</a:t>
            </a:r>
          </a:p>
        </p:txBody>
      </p:sp>
      <p:sp>
        <p:nvSpPr>
          <p:cNvPr id="28" name="core-claim">
            <a:extLst xmlns:a="http://schemas.openxmlformats.org/drawingml/2006/main">
              <a:ext uri="{FF2B5EF4-FFF2-40B4-BE49-F238E27FC236}">
                <a16:creationId xmlns:a16="http://schemas.microsoft.com/office/drawing/2014/main" id="{D726DDF9-7F4A-431F-88A7-ADF827B63C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857875"/>
            <a:ext cx="10001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00000"/>
                </a:solidFill>
              </a:defRPr>
            </a:pPr>
            <a:r>
              <a:rPr sz="1350" b="1">
                <a:solidFill>
                  <a:srgbClr val="000000"/>
                </a:solidFill>
              </a:rPr>
              <a:t>責任邊界清楚：streamer 決定配對，memory 提供向量，accumulator 算分數，softmax 產生 context。</a:t>
            </a:r>
          </a:p>
        </p:txBody>
      </p:sp>
    </p:spTree>
    <p:extLst>
      <p:ext uri="{BB962C8B-B14F-4D97-AF65-F5344CB8AC3E}">
        <p14:creationId xmlns:p14="http://schemas.microsoft.com/office/powerpoint/2010/main" val="2130046189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kicker-4">
            <a:extLst xmlns:a="http://schemas.openxmlformats.org/drawingml/2006/main">
              <a:ext uri="{FF2B5EF4-FFF2-40B4-BE49-F238E27FC236}">
                <a16:creationId xmlns:a16="http://schemas.microsoft.com/office/drawing/2014/main" id="{9546398F-FB10-48E1-B832-A348F81038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66700"/>
            <a:ext cx="3810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5F6368"/>
                </a:solidFill>
              </a:defRPr>
            </a:pPr>
            <a:r>
              <a:rPr sz="1050" b="1">
                <a:solidFill>
                  <a:srgbClr val="5F6368"/>
                </a:solidFill>
              </a:rPr>
              <a:t>CHIP_TOP / RTL ARCHITECTURE</a:t>
            </a:r>
          </a:p>
        </p:txBody>
      </p:sp>
      <p:sp>
        <p:nvSpPr>
          <p:cNvPr id="2" name="title-4">
            <a:extLst xmlns:a="http://schemas.openxmlformats.org/drawingml/2006/main">
              <a:ext uri="{FF2B5EF4-FFF2-40B4-BE49-F238E27FC236}">
                <a16:creationId xmlns:a16="http://schemas.microsoft.com/office/drawing/2014/main" id="{145AEF06-A474-44D6-B4A3-0BACD012B4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23875"/>
            <a:ext cx="110490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850" b="0">
                <a:solidFill>
                  <a:srgbClr val="000000"/>
                </a:solidFill>
              </a:defRPr>
            </a:pPr>
            <a:r>
              <a:rPr sz="2850" b="0">
                <a:solidFill>
                  <a:srgbClr val="000000"/>
                </a:solidFill>
              </a:rPr>
              <a:t>Streamer 依 phase 管理四組 line-buffer bank</a:t>
            </a:r>
          </a:p>
        </p:txBody>
      </p:sp>
      <p:sp>
        <p:nvSpPr>
          <p:cNvPr id="3" name="accent-4">
            <a:extLst xmlns:a="http://schemas.openxmlformats.org/drawingml/2006/main">
              <a:ext uri="{FF2B5EF4-FFF2-40B4-BE49-F238E27FC236}">
                <a16:creationId xmlns:a16="http://schemas.microsoft.com/office/drawing/2014/main" id="{14EBDA89-D82B-4796-95D0-CEEE41A8F6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219200"/>
            <a:ext cx="10477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solidFill>
              <a:srgbClr val="3D8DFF"/>
            </a:solidFill>
            <a:prstDash val="solid"/>
          </a:ln>
        </p:spPr>
      </p:sp>
      <p:sp>
        <p:nvSpPr>
          <p:cNvPr id="4" name="page-4">
            <a:extLst xmlns:a="http://schemas.openxmlformats.org/drawingml/2006/main">
              <a:ext uri="{FF2B5EF4-FFF2-40B4-BE49-F238E27FC236}">
                <a16:creationId xmlns:a16="http://schemas.microsoft.com/office/drawing/2014/main" id="{52E9D9A9-480D-46AA-9690-765E198803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334125"/>
            <a:ext cx="5524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5F6368"/>
                </a:solidFill>
              </a:defRPr>
            </a:pPr>
            <a:r>
              <a:rPr sz="975" b="0">
                <a:solidFill>
                  <a:srgbClr val="5F6368"/>
                </a:solidFill>
              </a:rPr>
              <a:t>04</a:t>
            </a:r>
          </a:p>
        </p:txBody>
      </p:sp>
      <p:sp>
        <p:nvSpPr>
          <p:cNvPr id="5" name="streamer-summary">
            <a:extLst xmlns:a="http://schemas.openxmlformats.org/drawingml/2006/main">
              <a:ext uri="{FF2B5EF4-FFF2-40B4-BE49-F238E27FC236}">
                <a16:creationId xmlns:a16="http://schemas.microsoft.com/office/drawing/2014/main" id="{E31BF12D-4073-4425-854E-1C24FBCABF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428750"/>
            <a:ext cx="11049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F6368"/>
                </a:solidFill>
              </a:defRPr>
            </a:pPr>
            <a:r>
              <a:rPr sz="1350" b="0">
                <a:solidFill>
                  <a:srgbClr val="5F6368"/>
                </a:solidFill>
              </a:rPr>
              <a:t>pattern_controller 支援 sliding、dilated、sliding-global、butterfly；只有 pair_valid &amp;&amp; advance_ready 時寫入目前 phase 的 buffer。</a:t>
            </a:r>
          </a:p>
        </p:txBody>
      </p:sp>
      <p:sp>
        <p:nvSpPr>
          <p:cNvPr id="6" name="stream-LOCAL">
            <a:extLst xmlns:a="http://schemas.openxmlformats.org/drawingml/2006/main">
              <a:ext uri="{FF2B5EF4-FFF2-40B4-BE49-F238E27FC236}">
                <a16:creationId xmlns:a16="http://schemas.microsoft.com/office/drawing/2014/main" id="{6CBE30AC-6069-4704-A604-EFA2835F67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238375"/>
            <a:ext cx="5410200" cy="1504950"/>
          </a:xfrm>
          <a:prstGeom xmlns:a="http://schemas.openxmlformats.org/drawingml/2006/main" prst="roundRect">
            <a:avLst>
              <a:gd name="adj" fmla="val 5063"/>
            </a:avLst>
          </a:prstGeom>
          <a:solidFill xmlns:a="http://schemas.openxmlformats.org/drawingml/2006/main">
            <a:srgbClr val="F7F7F7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7" name="stream-LOCAL-phase">
            <a:extLst xmlns:a="http://schemas.openxmlformats.org/drawingml/2006/main">
              <a:ext uri="{FF2B5EF4-FFF2-40B4-BE49-F238E27FC236}">
                <a16:creationId xmlns:a16="http://schemas.microsoft.com/office/drawing/2014/main" id="{C59140E9-6DD4-4233-AE79-A06043606A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428875"/>
            <a:ext cx="1714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00000"/>
                </a:solidFill>
              </a:defRPr>
            </a:pPr>
            <a:r>
              <a:rPr sz="1650" b="1">
                <a:solidFill>
                  <a:srgbClr val="000000"/>
                </a:solidFill>
              </a:rPr>
              <a:t>LOCAL</a:t>
            </a:r>
          </a:p>
        </p:txBody>
      </p:sp>
      <p:sp>
        <p:nvSpPr>
          <p:cNvPr id="8" name="stream-LOCAL-inst">
            <a:extLst xmlns:a="http://schemas.openxmlformats.org/drawingml/2006/main">
              <a:ext uri="{FF2B5EF4-FFF2-40B4-BE49-F238E27FC236}">
                <a16:creationId xmlns:a16="http://schemas.microsoft.com/office/drawing/2014/main" id="{8C1FE497-BCBA-480D-95FC-43DA83EB34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95550" y="2428875"/>
            <a:ext cx="2952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3D8DFF"/>
                </a:solidFill>
              </a:defRPr>
            </a:pPr>
            <a:r>
              <a:rPr sz="1350" b="1">
                <a:solidFill>
                  <a:srgbClr val="3D8DFF"/>
                </a:solidFill>
              </a:rPr>
              <a:t>gen_block_lb ×4</a:t>
            </a:r>
          </a:p>
        </p:txBody>
      </p:sp>
      <p:sp>
        <p:nvSpPr>
          <p:cNvPr id="9" name="stream-LOCAL-desc">
            <a:extLst xmlns:a="http://schemas.openxmlformats.org/drawingml/2006/main">
              <a:ext uri="{FF2B5EF4-FFF2-40B4-BE49-F238E27FC236}">
                <a16:creationId xmlns:a16="http://schemas.microsoft.com/office/drawing/2014/main" id="{CCED4DD1-90F9-4457-986E-36462ECADA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847975"/>
            <a:ext cx="4905375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F6368"/>
                </a:solidFill>
              </a:defRPr>
            </a:pPr>
            <a:r>
              <a:rPr sz="1275" b="0">
                <a:solidFill>
                  <a:srgbClr val="5F6368"/>
                </a:solidFill>
              </a:rPr>
              <a:t>k_idx % WINDOW_SIZE 選 bank；每個 buffer 深度為 WINDOW_SIZE。</a:t>
            </a:r>
          </a:p>
        </p:txBody>
      </p:sp>
      <p:sp>
        <p:nvSpPr>
          <p:cNvPr id="10" name="stream-COL_GLOBAL">
            <a:extLst xmlns:a="http://schemas.openxmlformats.org/drawingml/2006/main">
              <a:ext uri="{FF2B5EF4-FFF2-40B4-BE49-F238E27FC236}">
                <a16:creationId xmlns:a16="http://schemas.microsoft.com/office/drawing/2014/main" id="{DF307928-F14D-4DB1-A352-B55F3FB03B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2238375"/>
            <a:ext cx="5410200" cy="1504950"/>
          </a:xfrm>
          <a:prstGeom xmlns:a="http://schemas.openxmlformats.org/drawingml/2006/main" prst="roundRect">
            <a:avLst>
              <a:gd name="adj" fmla="val 5063"/>
            </a:avLst>
          </a:prstGeom>
          <a:solidFill xmlns:a="http://schemas.openxmlformats.org/drawingml/2006/main">
            <a:srgbClr val="F7F7F7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1" name="stream-COL_GLOBAL-phase">
            <a:extLst xmlns:a="http://schemas.openxmlformats.org/drawingml/2006/main">
              <a:ext uri="{FF2B5EF4-FFF2-40B4-BE49-F238E27FC236}">
                <a16:creationId xmlns:a16="http://schemas.microsoft.com/office/drawing/2014/main" id="{642D6733-24DD-4777-ADA7-5F8FE44ED0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2428875"/>
            <a:ext cx="1714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00000"/>
                </a:solidFill>
              </a:defRPr>
            </a:pPr>
            <a:r>
              <a:rPr sz="1650" b="1">
                <a:solidFill>
                  <a:srgbClr val="000000"/>
                </a:solidFill>
              </a:rPr>
              <a:t>COL_GLOBAL</a:t>
            </a:r>
          </a:p>
        </p:txBody>
      </p:sp>
      <p:sp>
        <p:nvSpPr>
          <p:cNvPr id="12" name="stream-COL_GLOBAL-inst">
            <a:extLst xmlns:a="http://schemas.openxmlformats.org/drawingml/2006/main">
              <a:ext uri="{FF2B5EF4-FFF2-40B4-BE49-F238E27FC236}">
                <a16:creationId xmlns:a16="http://schemas.microsoft.com/office/drawing/2014/main" id="{58549D5D-9EBF-4737-A8D7-42B1666EF3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2428875"/>
            <a:ext cx="2952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3D8DFF"/>
                </a:solidFill>
              </a:defRPr>
            </a:pPr>
            <a:r>
              <a:rPr sz="1350" b="1">
                <a:solidFill>
                  <a:srgbClr val="3D8DFF"/>
                </a:solidFill>
              </a:rPr>
              <a:t>u_global_lb ×1</a:t>
            </a:r>
          </a:p>
        </p:txBody>
      </p:sp>
      <p:sp>
        <p:nvSpPr>
          <p:cNvPr id="13" name="stream-COL_GLOBAL-desc">
            <a:extLst xmlns:a="http://schemas.openxmlformats.org/drawingml/2006/main">
              <a:ext uri="{FF2B5EF4-FFF2-40B4-BE49-F238E27FC236}">
                <a16:creationId xmlns:a16="http://schemas.microsoft.com/office/drawing/2014/main" id="{D85B4803-F747-4432-998D-9FC3D25C09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2847975"/>
            <a:ext cx="4905375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F6368"/>
                </a:solidFill>
              </a:defRPr>
            </a:pPr>
            <a:r>
              <a:rPr sz="1275" b="0">
                <a:solidFill>
                  <a:srgbClr val="5F6368"/>
                </a:solidFill>
              </a:rPr>
              <a:t>固定 GLOBAL_INDEX，單一深度 1 buffer 保存 column-global eviction。</a:t>
            </a:r>
          </a:p>
        </p:txBody>
      </p:sp>
      <p:sp>
        <p:nvSpPr>
          <p:cNvPr id="14" name="stream-ROW_GLOBAL">
            <a:extLst xmlns:a="http://schemas.openxmlformats.org/drawingml/2006/main">
              <a:ext uri="{FF2B5EF4-FFF2-40B4-BE49-F238E27FC236}">
                <a16:creationId xmlns:a16="http://schemas.microsoft.com/office/drawing/2014/main" id="{B3316B83-D79B-4C1C-8153-D00A8B8235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095750"/>
            <a:ext cx="5410200" cy="1504950"/>
          </a:xfrm>
          <a:prstGeom xmlns:a="http://schemas.openxmlformats.org/drawingml/2006/main" prst="roundRect">
            <a:avLst>
              <a:gd name="adj" fmla="val 5063"/>
            </a:avLst>
          </a:prstGeom>
          <a:solidFill xmlns:a="http://schemas.openxmlformats.org/drawingml/2006/main">
            <a:srgbClr val="F7F7F7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5" name="stream-ROW_GLOBAL-phase">
            <a:extLst xmlns:a="http://schemas.openxmlformats.org/drawingml/2006/main">
              <a:ext uri="{FF2B5EF4-FFF2-40B4-BE49-F238E27FC236}">
                <a16:creationId xmlns:a16="http://schemas.microsoft.com/office/drawing/2014/main" id="{C7A6ADEE-E939-4F37-99E2-12BB5AF3AF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286250"/>
            <a:ext cx="1714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00000"/>
                </a:solidFill>
              </a:defRPr>
            </a:pPr>
            <a:r>
              <a:rPr sz="1650" b="1">
                <a:solidFill>
                  <a:srgbClr val="000000"/>
                </a:solidFill>
              </a:rPr>
              <a:t>ROW_GLOBAL</a:t>
            </a:r>
          </a:p>
        </p:txBody>
      </p:sp>
      <p:sp>
        <p:nvSpPr>
          <p:cNvPr id="16" name="stream-ROW_GLOBAL-inst">
            <a:extLst xmlns:a="http://schemas.openxmlformats.org/drawingml/2006/main">
              <a:ext uri="{FF2B5EF4-FFF2-40B4-BE49-F238E27FC236}">
                <a16:creationId xmlns:a16="http://schemas.microsoft.com/office/drawing/2014/main" id="{EEBD8FF5-9A9E-4195-AC66-F38D888B12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95550" y="4286250"/>
            <a:ext cx="2952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3D8DFF"/>
                </a:solidFill>
              </a:defRPr>
            </a:pPr>
            <a:r>
              <a:rPr sz="1350" b="1">
                <a:solidFill>
                  <a:srgbClr val="3D8DFF"/>
                </a:solidFill>
              </a:rPr>
              <a:t>gen_global_row_lb ×4</a:t>
            </a:r>
          </a:p>
        </p:txBody>
      </p:sp>
      <p:sp>
        <p:nvSpPr>
          <p:cNvPr id="17" name="stream-ROW_GLOBAL-desc">
            <a:extLst xmlns:a="http://schemas.openxmlformats.org/drawingml/2006/main">
              <a:ext uri="{FF2B5EF4-FFF2-40B4-BE49-F238E27FC236}">
                <a16:creationId xmlns:a16="http://schemas.microsoft.com/office/drawing/2014/main" id="{1A6DAD6F-C88D-4CDC-BD2D-7C898B41A5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705350"/>
            <a:ext cx="4905375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F6368"/>
                </a:solidFill>
              </a:defRPr>
            </a:pPr>
            <a:r>
              <a:rPr sz="1275" b="0">
                <a:solidFill>
                  <a:srgbClr val="5F6368"/>
                </a:solidFill>
              </a:rPr>
              <a:t>仍以 block_select 選 bank，保存 global row 掃描歷史。</a:t>
            </a:r>
          </a:p>
        </p:txBody>
      </p:sp>
      <p:sp>
        <p:nvSpPr>
          <p:cNvPr id="18" name="stream-BUTTERFLY">
            <a:extLst xmlns:a="http://schemas.openxmlformats.org/drawingml/2006/main">
              <a:ext uri="{FF2B5EF4-FFF2-40B4-BE49-F238E27FC236}">
                <a16:creationId xmlns:a16="http://schemas.microsoft.com/office/drawing/2014/main" id="{C9D4E239-B672-4CE2-8DAA-A73DD8129F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4095750"/>
            <a:ext cx="5410200" cy="1504950"/>
          </a:xfrm>
          <a:prstGeom xmlns:a="http://schemas.openxmlformats.org/drawingml/2006/main" prst="roundRect">
            <a:avLst>
              <a:gd name="adj" fmla="val 5063"/>
            </a:avLst>
          </a:prstGeom>
          <a:solidFill xmlns:a="http://schemas.openxmlformats.org/drawingml/2006/main">
            <a:srgbClr val="D0EDFA"/>
          </a:solidFill>
          <a:ln xmlns:a="http://schemas.openxmlformats.org/drawingml/2006/main" w="9525">
            <a:solidFill>
              <a:srgbClr val="3D8DFF"/>
            </a:solidFill>
            <a:prstDash val="solid"/>
          </a:ln>
        </p:spPr>
      </p:sp>
      <p:sp>
        <p:nvSpPr>
          <p:cNvPr id="19" name="stream-BUTTERFLY-phase">
            <a:extLst xmlns:a="http://schemas.openxmlformats.org/drawingml/2006/main">
              <a:ext uri="{FF2B5EF4-FFF2-40B4-BE49-F238E27FC236}">
                <a16:creationId xmlns:a16="http://schemas.microsoft.com/office/drawing/2014/main" id="{D41D36D5-6A0B-4FEF-9AFE-84211140FF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4286250"/>
            <a:ext cx="1714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00000"/>
                </a:solidFill>
              </a:defRPr>
            </a:pPr>
            <a:r>
              <a:rPr sz="1650" b="1">
                <a:solidFill>
                  <a:srgbClr val="000000"/>
                </a:solidFill>
              </a:rPr>
              <a:t>BUTTERFLY</a:t>
            </a:r>
          </a:p>
        </p:txBody>
      </p:sp>
      <p:sp>
        <p:nvSpPr>
          <p:cNvPr id="20" name="stream-BUTTERFLY-inst">
            <a:extLst xmlns:a="http://schemas.openxmlformats.org/drawingml/2006/main">
              <a:ext uri="{FF2B5EF4-FFF2-40B4-BE49-F238E27FC236}">
                <a16:creationId xmlns:a16="http://schemas.microsoft.com/office/drawing/2014/main" id="{6D1F19F8-E165-4A8D-87C3-8BA838CE6A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4286250"/>
            <a:ext cx="2952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3D8DFF"/>
                </a:solidFill>
              </a:defRPr>
            </a:pPr>
            <a:r>
              <a:rPr sz="1350" b="1">
                <a:solidFill>
                  <a:srgbClr val="3D8DFF"/>
                </a:solidFill>
              </a:rPr>
              <a:t>gen_butterfly_lb ×8</a:t>
            </a:r>
          </a:p>
        </p:txBody>
      </p:sp>
      <p:sp>
        <p:nvSpPr>
          <p:cNvPr id="21" name="stream-BUTTERFLY-desc">
            <a:extLst xmlns:a="http://schemas.openxmlformats.org/drawingml/2006/main">
              <a:ext uri="{FF2B5EF4-FFF2-40B4-BE49-F238E27FC236}">
                <a16:creationId xmlns:a16="http://schemas.microsoft.com/office/drawing/2014/main" id="{021B8FE3-31D2-4C0B-A6C0-F965F31608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4705350"/>
            <a:ext cx="4905375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F6368"/>
                </a:solidFill>
              </a:defRPr>
            </a:pPr>
            <a:r>
              <a:rPr sz="1275" b="0">
                <a:solidFill>
                  <a:srgbClr val="5F6368"/>
                </a:solidFill>
              </a:rPr>
              <a:t>以 q_idx XOR k_idx 的 stride bit 選 stage；數量等於 IDX_WIDTH。</a:t>
            </a:r>
          </a:p>
        </p:txBody>
      </p:sp>
      <p:sp>
        <p:nvSpPr>
          <p:cNvPr id="22" name="streamer-total">
            <a:extLst xmlns:a="http://schemas.openxmlformats.org/drawingml/2006/main">
              <a:ext uri="{FF2B5EF4-FFF2-40B4-BE49-F238E27FC236}">
                <a16:creationId xmlns:a16="http://schemas.microsoft.com/office/drawing/2014/main" id="{DDE055C7-97F9-4D0B-A509-4734604CEF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905500"/>
            <a:ext cx="6191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000000"/>
                </a:solidFill>
              </a:defRPr>
            </a:pPr>
            <a:r>
              <a:rPr sz="1500" b="1">
                <a:solidFill>
                  <a:srgbClr val="000000"/>
                </a:solidFill>
              </a:rPr>
              <a:t>chip_top 預設：4 + 1 + 4 + 8 = 17 個 KV_LBV2</a:t>
            </a:r>
          </a:p>
        </p:txBody>
      </p:sp>
    </p:spTree>
    <p:extLst>
      <p:ext uri="{BB962C8B-B14F-4D97-AF65-F5344CB8AC3E}">
        <p14:creationId xmlns:p14="http://schemas.microsoft.com/office/powerpoint/2010/main" val="2138970406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kicker-5">
            <a:extLst xmlns:a="http://schemas.openxmlformats.org/drawingml/2006/main">
              <a:ext uri="{FF2B5EF4-FFF2-40B4-BE49-F238E27FC236}">
                <a16:creationId xmlns:a16="http://schemas.microsoft.com/office/drawing/2014/main" id="{A5E05203-C48A-454F-B97B-F9A812844A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66700"/>
            <a:ext cx="3810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5F6368"/>
                </a:solidFill>
              </a:defRPr>
            </a:pPr>
            <a:r>
              <a:rPr sz="1050" b="1">
                <a:solidFill>
                  <a:srgbClr val="5F6368"/>
                </a:solidFill>
              </a:rPr>
              <a:t>CHIP_TOP / RTL ARCHITECTURE</a:t>
            </a:r>
          </a:p>
        </p:txBody>
      </p:sp>
      <p:sp>
        <p:nvSpPr>
          <p:cNvPr id="2" name="title-5">
            <a:extLst xmlns:a="http://schemas.openxmlformats.org/drawingml/2006/main">
              <a:ext uri="{FF2B5EF4-FFF2-40B4-BE49-F238E27FC236}">
                <a16:creationId xmlns:a16="http://schemas.microsoft.com/office/drawing/2014/main" id="{8E19030C-4424-44EC-9923-B58A6EBCA6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23875"/>
            <a:ext cx="110490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850" b="0">
                <a:solidFill>
                  <a:srgbClr val="000000"/>
                </a:solidFill>
              </a:defRPr>
            </a:pPr>
            <a:r>
              <a:rPr sz="2850" b="0">
                <a:solidFill>
                  <a:srgbClr val="000000"/>
                </a:solidFill>
              </a:rPr>
              <a:t>QKV memory 採三個獨立陣列，寫入同步、讀出組合</a:t>
            </a:r>
          </a:p>
        </p:txBody>
      </p:sp>
      <p:sp>
        <p:nvSpPr>
          <p:cNvPr id="3" name="accent-5">
            <a:extLst xmlns:a="http://schemas.openxmlformats.org/drawingml/2006/main">
              <a:ext uri="{FF2B5EF4-FFF2-40B4-BE49-F238E27FC236}">
                <a16:creationId xmlns:a16="http://schemas.microsoft.com/office/drawing/2014/main" id="{8F6B87FC-EA03-4163-BF78-8D6A19799A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219200"/>
            <a:ext cx="10477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solidFill>
              <a:srgbClr val="3D8DFF"/>
            </a:solidFill>
            <a:prstDash val="solid"/>
          </a:ln>
        </p:spPr>
      </p:sp>
      <p:sp>
        <p:nvSpPr>
          <p:cNvPr id="4" name="page-5">
            <a:extLst xmlns:a="http://schemas.openxmlformats.org/drawingml/2006/main">
              <a:ext uri="{FF2B5EF4-FFF2-40B4-BE49-F238E27FC236}">
                <a16:creationId xmlns:a16="http://schemas.microsoft.com/office/drawing/2014/main" id="{0A0EEDFE-CD2C-4D7B-AB57-C694D71316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334125"/>
            <a:ext cx="5524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5F6368"/>
                </a:solidFill>
              </a:defRPr>
            </a:pPr>
            <a:r>
              <a:rPr sz="975" b="0">
                <a:solidFill>
                  <a:srgbClr val="5F6368"/>
                </a:solidFill>
              </a:rPr>
              <a:t>05</a:t>
            </a:r>
          </a:p>
        </p:txBody>
      </p:sp>
      <p:sp>
        <p:nvSpPr>
          <p:cNvPr id="5" name="mem-formula">
            <a:extLst xmlns:a="http://schemas.openxmlformats.org/drawingml/2006/main">
              <a:ext uri="{FF2B5EF4-FFF2-40B4-BE49-F238E27FC236}">
                <a16:creationId xmlns:a16="http://schemas.microsoft.com/office/drawing/2014/main" id="{BFBB1E49-9C97-4612-AD6D-4F70D1794F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476375"/>
            <a:ext cx="11391900" cy="781050"/>
          </a:xfrm>
          <a:prstGeom xmlns:a="http://schemas.openxmlformats.org/drawingml/2006/main" prst="roundRect">
            <a:avLst>
              <a:gd name="adj" fmla="val 9756"/>
            </a:avLst>
          </a:prstGeom>
          <a:solidFill xmlns:a="http://schemas.openxmlformats.org/drawingml/2006/main">
            <a:srgbClr val="D0EDFA"/>
          </a:solidFill>
          <a:ln xmlns:a="http://schemas.openxmlformats.org/drawingml/2006/main" w="9525">
            <a:solidFill>
              <a:srgbClr val="3D8DFF"/>
            </a:solidFill>
            <a:prstDash val="solid"/>
          </a:ln>
        </p:spPr>
      </p:sp>
      <p:sp>
        <p:nvSpPr>
          <p:cNvPr id="6" name="mem-formula-main">
            <a:extLst xmlns:a="http://schemas.openxmlformats.org/drawingml/2006/main">
              <a:ext uri="{FF2B5EF4-FFF2-40B4-BE49-F238E27FC236}">
                <a16:creationId xmlns:a16="http://schemas.microsoft.com/office/drawing/2014/main" id="{9CF516B1-1B36-4BDF-AE1C-860018C0B6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1657350"/>
            <a:ext cx="6191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000000"/>
                </a:solidFill>
              </a:defRPr>
            </a:pPr>
            <a:r>
              <a:rPr sz="1800" b="1">
                <a:solidFill>
                  <a:srgbClr val="000000"/>
                </a:solidFill>
              </a:rPr>
              <a:t>address = token_idx × FEATURE_DIM + feature_idx</a:t>
            </a:r>
          </a:p>
        </p:txBody>
      </p:sp>
      <p:sp>
        <p:nvSpPr>
          <p:cNvPr id="7" name="mem-formula-note">
            <a:extLst xmlns:a="http://schemas.openxmlformats.org/drawingml/2006/main">
              <a:ext uri="{FF2B5EF4-FFF2-40B4-BE49-F238E27FC236}">
                <a16:creationId xmlns:a16="http://schemas.microsoft.com/office/drawing/2014/main" id="{962C46E7-55F0-45CC-9297-BA90F9E18B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00875" y="1647825"/>
            <a:ext cx="4476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00000"/>
                </a:solidFill>
              </a:defRPr>
            </a:pPr>
            <a:r>
              <a:rPr sz="1275" b="0">
                <a:solidFill>
                  <a:srgbClr val="000000"/>
                </a:solidFill>
              </a:rPr>
              <a:t>write_in_range 保護 token / feature 邊界；qkv_sel 選 Q、K 或 V。</a:t>
            </a:r>
          </a:p>
        </p:txBody>
      </p:sp>
      <p:sp>
        <p:nvSpPr>
          <p:cNvPr id="8" name="mem-q_mem[0:511]">
            <a:extLst xmlns:a="http://schemas.openxmlformats.org/drawingml/2006/main">
              <a:ext uri="{FF2B5EF4-FFF2-40B4-BE49-F238E27FC236}">
                <a16:creationId xmlns:a16="http://schemas.microsoft.com/office/drawing/2014/main" id="{10577A5D-B562-4C15-BF49-42FE777500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857500"/>
            <a:ext cx="3581400" cy="2238375"/>
          </a:xfrm>
          <a:prstGeom xmlns:a="http://schemas.openxmlformats.org/drawingml/2006/main" prst="roundRect">
            <a:avLst>
              <a:gd name="adj" fmla="val 3404"/>
            </a:avLst>
          </a:prstGeom>
          <a:solidFill xmlns:a="http://schemas.openxmlformats.org/drawingml/2006/main">
            <a:srgbClr val="F7F7F7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9" name="mem-q_mem[0:511]-title">
            <a:extLst xmlns:a="http://schemas.openxmlformats.org/drawingml/2006/main">
              <a:ext uri="{FF2B5EF4-FFF2-40B4-BE49-F238E27FC236}">
                <a16:creationId xmlns:a16="http://schemas.microsoft.com/office/drawing/2014/main" id="{F41B3DA5-1BAB-4E06-A1A5-181EB5600B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143250"/>
            <a:ext cx="3048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000000"/>
                </a:solidFill>
              </a:defRPr>
            </a:pPr>
            <a:r>
              <a:rPr sz="1800" b="1">
                <a:solidFill>
                  <a:srgbClr val="000000"/>
                </a:solidFill>
              </a:rPr>
              <a:t>Q memory</a:t>
            </a:r>
          </a:p>
        </p:txBody>
      </p:sp>
      <p:sp>
        <p:nvSpPr>
          <p:cNvPr id="10" name="mem-q_mem[0:511]-reg">
            <a:extLst xmlns:a="http://schemas.openxmlformats.org/drawingml/2006/main">
              <a:ext uri="{FF2B5EF4-FFF2-40B4-BE49-F238E27FC236}">
                <a16:creationId xmlns:a16="http://schemas.microsoft.com/office/drawing/2014/main" id="{B39F1981-B770-4A3A-B2E3-ACDC0CA018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600450"/>
            <a:ext cx="3048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3D8DFF"/>
                </a:solidFill>
              </a:defRPr>
            </a:pPr>
            <a:r>
              <a:rPr sz="1275" b="1">
                <a:solidFill>
                  <a:srgbClr val="3D8DFF"/>
                </a:solidFill>
              </a:rPr>
              <a:t>q_mem[0:511]</a:t>
            </a:r>
          </a:p>
        </p:txBody>
      </p:sp>
      <p:sp>
        <p:nvSpPr>
          <p:cNvPr id="11" name="mem-q_mem[0:511]-desc">
            <a:extLst xmlns:a="http://schemas.openxmlformats.org/drawingml/2006/main">
              <a:ext uri="{FF2B5EF4-FFF2-40B4-BE49-F238E27FC236}">
                <a16:creationId xmlns:a16="http://schemas.microsoft.com/office/drawing/2014/main" id="{F9AB0EAB-6A24-4478-804E-584F1E8677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057650"/>
            <a:ext cx="3048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F6368"/>
                </a:solidFill>
              </a:defRPr>
            </a:pPr>
            <a:r>
              <a:rPr sz="1350" b="0">
                <a:solidFill>
                  <a:srgbClr val="5F6368"/>
                </a:solidFill>
              </a:rPr>
              <a:t>128 × 4 × 8 bit</a:t>
            </a:r>
          </a:p>
          <a:p xmlns:a="http://schemas.openxmlformats.org/drawingml/2006/main">
            <a:pPr algn="l">
              <a:defRPr sz="1350" b="0">
                <a:solidFill>
                  <a:srgbClr val="5F6368"/>
                </a:solidFill>
              </a:defRPr>
            </a:pPr>
            <a:r>
              <a:rPr sz="1350" b="0">
                <a:solidFill>
                  <a:srgbClr val="5F6368"/>
                </a:solidFill>
              </a:rPr>
              <a:t>依 q_read_idx 組成 32-bit vector</a:t>
            </a:r>
          </a:p>
        </p:txBody>
      </p:sp>
      <p:sp>
        <p:nvSpPr>
          <p:cNvPr id="12" name="mem-k_mem[0:511]">
            <a:extLst xmlns:a="http://schemas.openxmlformats.org/drawingml/2006/main">
              <a:ext uri="{FF2B5EF4-FFF2-40B4-BE49-F238E27FC236}">
                <a16:creationId xmlns:a16="http://schemas.microsoft.com/office/drawing/2014/main" id="{464CEB2F-5096-4EC5-8B5D-134D2537E3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2857500"/>
            <a:ext cx="3581400" cy="2238375"/>
          </a:xfrm>
          <a:prstGeom xmlns:a="http://schemas.openxmlformats.org/drawingml/2006/main" prst="roundRect">
            <a:avLst>
              <a:gd name="adj" fmla="val 3404"/>
            </a:avLst>
          </a:prstGeom>
          <a:solidFill xmlns:a="http://schemas.openxmlformats.org/drawingml/2006/main">
            <a:srgbClr val="F7F7F7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3" name="mem-k_mem[0:511]-title">
            <a:extLst xmlns:a="http://schemas.openxmlformats.org/drawingml/2006/main">
              <a:ext uri="{FF2B5EF4-FFF2-40B4-BE49-F238E27FC236}">
                <a16:creationId xmlns:a16="http://schemas.microsoft.com/office/drawing/2014/main" id="{1A59CE06-86C7-4094-BF42-0E2D767AF0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2950" y="3143250"/>
            <a:ext cx="3048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000000"/>
                </a:solidFill>
              </a:defRPr>
            </a:pPr>
            <a:r>
              <a:rPr sz="1800" b="1">
                <a:solidFill>
                  <a:srgbClr val="000000"/>
                </a:solidFill>
              </a:rPr>
              <a:t>K memory</a:t>
            </a:r>
          </a:p>
        </p:txBody>
      </p:sp>
      <p:sp>
        <p:nvSpPr>
          <p:cNvPr id="14" name="mem-k_mem[0:511]-reg">
            <a:extLst xmlns:a="http://schemas.openxmlformats.org/drawingml/2006/main">
              <a:ext uri="{FF2B5EF4-FFF2-40B4-BE49-F238E27FC236}">
                <a16:creationId xmlns:a16="http://schemas.microsoft.com/office/drawing/2014/main" id="{87B63A8D-0F87-49DE-9E10-329A90626C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2950" y="3600450"/>
            <a:ext cx="3048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3D8DFF"/>
                </a:solidFill>
              </a:defRPr>
            </a:pPr>
            <a:r>
              <a:rPr sz="1275" b="1">
                <a:solidFill>
                  <a:srgbClr val="3D8DFF"/>
                </a:solidFill>
              </a:rPr>
              <a:t>k_mem[0:511]</a:t>
            </a:r>
          </a:p>
        </p:txBody>
      </p:sp>
      <p:sp>
        <p:nvSpPr>
          <p:cNvPr id="15" name="mem-k_mem[0:511]-desc">
            <a:extLst xmlns:a="http://schemas.openxmlformats.org/drawingml/2006/main">
              <a:ext uri="{FF2B5EF4-FFF2-40B4-BE49-F238E27FC236}">
                <a16:creationId xmlns:a16="http://schemas.microsoft.com/office/drawing/2014/main" id="{0753C36C-AFCF-49D1-93A1-A598DEAABA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2950" y="4057650"/>
            <a:ext cx="3048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F6368"/>
                </a:solidFill>
              </a:defRPr>
            </a:pPr>
            <a:r>
              <a:rPr sz="1350" b="0">
                <a:solidFill>
                  <a:srgbClr val="5F6368"/>
                </a:solidFill>
              </a:rPr>
              <a:t>128 × 4 × 8 bit</a:t>
            </a:r>
          </a:p>
          <a:p xmlns:a="http://schemas.openxmlformats.org/drawingml/2006/main">
            <a:pPr algn="l">
              <a:defRPr sz="1350" b="0">
                <a:solidFill>
                  <a:srgbClr val="5F6368"/>
                </a:solidFill>
              </a:defRPr>
            </a:pPr>
            <a:r>
              <a:rPr sz="1350" b="0">
                <a:solidFill>
                  <a:srgbClr val="5F6368"/>
                </a:solidFill>
              </a:rPr>
              <a:t>依 k_read_idx 組成 32-bit vector</a:t>
            </a:r>
          </a:p>
        </p:txBody>
      </p:sp>
      <p:sp>
        <p:nvSpPr>
          <p:cNvPr id="16" name="mem-v_mem[0:511]">
            <a:extLst xmlns:a="http://schemas.openxmlformats.org/drawingml/2006/main">
              <a:ext uri="{FF2B5EF4-FFF2-40B4-BE49-F238E27FC236}">
                <a16:creationId xmlns:a16="http://schemas.microsoft.com/office/drawing/2014/main" id="{5F00AEEB-99C5-462C-9808-F88CB4F049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2857500"/>
            <a:ext cx="3581400" cy="2238375"/>
          </a:xfrm>
          <a:prstGeom xmlns:a="http://schemas.openxmlformats.org/drawingml/2006/main" prst="roundRect">
            <a:avLst>
              <a:gd name="adj" fmla="val 3404"/>
            </a:avLst>
          </a:prstGeom>
          <a:solidFill xmlns:a="http://schemas.openxmlformats.org/drawingml/2006/main">
            <a:srgbClr val="F7F7F7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7" name="mem-v_mem[0:511]-title">
            <a:extLst xmlns:a="http://schemas.openxmlformats.org/drawingml/2006/main">
              <a:ext uri="{FF2B5EF4-FFF2-40B4-BE49-F238E27FC236}">
                <a16:creationId xmlns:a16="http://schemas.microsoft.com/office/drawing/2014/main" id="{90A49369-39C4-4A92-BADF-65903FC6C4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3143250"/>
            <a:ext cx="3048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000000"/>
                </a:solidFill>
              </a:defRPr>
            </a:pPr>
            <a:r>
              <a:rPr sz="1800" b="1">
                <a:solidFill>
                  <a:srgbClr val="000000"/>
                </a:solidFill>
              </a:rPr>
              <a:t>V memory</a:t>
            </a:r>
          </a:p>
        </p:txBody>
      </p:sp>
      <p:sp>
        <p:nvSpPr>
          <p:cNvPr id="18" name="mem-v_mem[0:511]-reg">
            <a:extLst xmlns:a="http://schemas.openxmlformats.org/drawingml/2006/main">
              <a:ext uri="{FF2B5EF4-FFF2-40B4-BE49-F238E27FC236}">
                <a16:creationId xmlns:a16="http://schemas.microsoft.com/office/drawing/2014/main" id="{A2B34A67-8736-4851-B42F-51C824661C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3600450"/>
            <a:ext cx="3048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3D8DFF"/>
                </a:solidFill>
              </a:defRPr>
            </a:pPr>
            <a:r>
              <a:rPr sz="1275" b="1">
                <a:solidFill>
                  <a:srgbClr val="3D8DFF"/>
                </a:solidFill>
              </a:rPr>
              <a:t>v_mem[0:511]</a:t>
            </a:r>
          </a:p>
        </p:txBody>
      </p:sp>
      <p:sp>
        <p:nvSpPr>
          <p:cNvPr id="19" name="mem-v_mem[0:511]-desc">
            <a:extLst xmlns:a="http://schemas.openxmlformats.org/drawingml/2006/main">
              <a:ext uri="{FF2B5EF4-FFF2-40B4-BE49-F238E27FC236}">
                <a16:creationId xmlns:a16="http://schemas.microsoft.com/office/drawing/2014/main" id="{456A5FE3-5BF7-49AB-9D9F-4EBD527628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4057650"/>
            <a:ext cx="3048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F6368"/>
                </a:solidFill>
              </a:defRPr>
            </a:pPr>
            <a:r>
              <a:rPr sz="1350" b="0">
                <a:solidFill>
                  <a:srgbClr val="5F6368"/>
                </a:solidFill>
              </a:rPr>
              <a:t>128 × 4 × 8 bit</a:t>
            </a:r>
          </a:p>
          <a:p xmlns:a="http://schemas.openxmlformats.org/drawingml/2006/main">
            <a:pPr algn="l">
              <a:defRPr sz="1350" b="0">
                <a:solidFill>
                  <a:srgbClr val="5F6368"/>
                </a:solidFill>
              </a:defRPr>
            </a:pPr>
            <a:r>
              <a:rPr sz="1350" b="0">
                <a:solidFill>
                  <a:srgbClr val="5F6368"/>
                </a:solidFill>
              </a:rPr>
              <a:t>依 v_read_idx 組成 32-bit vector</a:t>
            </a:r>
          </a:p>
        </p:txBody>
      </p:sp>
      <p:sp>
        <p:nvSpPr>
          <p:cNvPr id="20" name="mem-size">
            <a:extLst xmlns:a="http://schemas.openxmlformats.org/drawingml/2006/main">
              <a:ext uri="{FF2B5EF4-FFF2-40B4-BE49-F238E27FC236}">
                <a16:creationId xmlns:a16="http://schemas.microsoft.com/office/drawing/2014/main" id="{679FB075-AB8B-43F9-9BF0-0F7204E9D5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591175"/>
            <a:ext cx="100012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000000"/>
                </a:solidFill>
              </a:defRPr>
            </a:pPr>
            <a:r>
              <a:rPr sz="1425" b="1">
                <a:solidFill>
                  <a:srgbClr val="000000"/>
                </a:solidFill>
              </a:rPr>
              <a:t>預設總容量：12,288 bit ≈ 1.5 KiB。三個非同步讀路徑可同時提供 Q、K、V feature vector。</a:t>
            </a:r>
          </a:p>
        </p:txBody>
      </p:sp>
    </p:spTree>
    <p:extLst>
      <p:ext uri="{BB962C8B-B14F-4D97-AF65-F5344CB8AC3E}">
        <p14:creationId xmlns:p14="http://schemas.microsoft.com/office/powerpoint/2010/main" val="125159181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kicker-6">
            <a:extLst xmlns:a="http://schemas.openxmlformats.org/drawingml/2006/main">
              <a:ext uri="{FF2B5EF4-FFF2-40B4-BE49-F238E27FC236}">
                <a16:creationId xmlns:a16="http://schemas.microsoft.com/office/drawing/2014/main" id="{EA8AACDB-2839-4359-AB85-3864CB1968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66700"/>
            <a:ext cx="3810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5F6368"/>
                </a:solidFill>
              </a:defRPr>
            </a:pPr>
            <a:r>
              <a:rPr sz="1050" b="1">
                <a:solidFill>
                  <a:srgbClr val="5F6368"/>
                </a:solidFill>
              </a:rPr>
              <a:t>CHIP_TOP / RTL ARCHITECTURE</a:t>
            </a:r>
          </a:p>
        </p:txBody>
      </p:sp>
      <p:sp>
        <p:nvSpPr>
          <p:cNvPr id="2" name="title-6">
            <a:extLst xmlns:a="http://schemas.openxmlformats.org/drawingml/2006/main">
              <a:ext uri="{FF2B5EF4-FFF2-40B4-BE49-F238E27FC236}">
                <a16:creationId xmlns:a16="http://schemas.microsoft.com/office/drawing/2014/main" id="{EBAD66AE-1CC8-4B12-9ECE-90268F86B2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23875"/>
            <a:ext cx="110490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850" b="0">
                <a:solidFill>
                  <a:srgbClr val="000000"/>
                </a:solidFill>
              </a:defRPr>
            </a:pPr>
            <a:r>
              <a:rPr sz="2850" b="0">
                <a:solidFill>
                  <a:srgbClr val="000000"/>
                </a:solidFill>
              </a:rPr>
              <a:t> QK accumulator：三個 cycle 對齊 index、valid 與 score</a:t>
            </a:r>
          </a:p>
        </p:txBody>
      </p:sp>
      <p:sp>
        <p:nvSpPr>
          <p:cNvPr id="3" name="accent-6">
            <a:extLst xmlns:a="http://schemas.openxmlformats.org/drawingml/2006/main">
              <a:ext uri="{FF2B5EF4-FFF2-40B4-BE49-F238E27FC236}">
                <a16:creationId xmlns:a16="http://schemas.microsoft.com/office/drawing/2014/main" id="{AB299A99-4A5E-4526-B538-8E78277DAE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219200"/>
            <a:ext cx="10477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solidFill>
              <a:srgbClr val="3D8DFF"/>
            </a:solidFill>
            <a:prstDash val="solid"/>
          </a:ln>
        </p:spPr>
      </p:sp>
      <p:sp>
        <p:nvSpPr>
          <p:cNvPr id="4" name="page-6">
            <a:extLst xmlns:a="http://schemas.openxmlformats.org/drawingml/2006/main">
              <a:ext uri="{FF2B5EF4-FFF2-40B4-BE49-F238E27FC236}">
                <a16:creationId xmlns:a16="http://schemas.microsoft.com/office/drawing/2014/main" id="{267BF80C-DE58-402C-A9D9-86D50E5D85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334125"/>
            <a:ext cx="5524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5F6368"/>
                </a:solidFill>
              </a:defRPr>
            </a:pPr>
            <a:r>
              <a:rPr sz="975" b="0">
                <a:solidFill>
                  <a:srgbClr val="5F6368"/>
                </a:solidFill>
              </a:rPr>
              <a:t>06</a:t>
            </a:r>
          </a:p>
        </p:txBody>
      </p:sp>
      <p:sp>
        <p:nvSpPr>
          <p:cNvPr id="5" name="qk-cycle-Cycle N">
            <a:extLst xmlns:a="http://schemas.openxmlformats.org/drawingml/2006/main">
              <a:ext uri="{FF2B5EF4-FFF2-40B4-BE49-F238E27FC236}">
                <a16:creationId xmlns:a16="http://schemas.microsoft.com/office/drawing/2014/main" id="{C472B5CD-D142-4C56-B3F5-61CDCE54FB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762125"/>
            <a:ext cx="2095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3D8DFF"/>
                </a:solidFill>
              </a:defRPr>
            </a:pPr>
            <a:r>
              <a:rPr sz="1350" b="1">
                <a:solidFill>
                  <a:srgbClr val="3D8DFF"/>
                </a:solidFill>
              </a:rPr>
              <a:t>Cycle N</a:t>
            </a:r>
          </a:p>
        </p:txBody>
      </p:sp>
      <p:sp>
        <p:nvSpPr>
          <p:cNvPr id="6" name="qk-stage-Capture">
            <a:extLst xmlns:a="http://schemas.openxmlformats.org/drawingml/2006/main">
              <a:ext uri="{FF2B5EF4-FFF2-40B4-BE49-F238E27FC236}">
                <a16:creationId xmlns:a16="http://schemas.microsoft.com/office/drawing/2014/main" id="{5EBCF383-6389-4895-A6A9-F44E2C3159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238375"/>
            <a:ext cx="3581400" cy="2647950"/>
          </a:xfrm>
          <a:prstGeom xmlns:a="http://schemas.openxmlformats.org/drawingml/2006/main" prst="roundRect">
            <a:avLst>
              <a:gd name="adj" fmla="val 2878"/>
            </a:avLst>
          </a:prstGeom>
          <a:solidFill xmlns:a="http://schemas.openxmlformats.org/drawingml/2006/main">
            <a:srgbClr val="F7F7F7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7" name="qk-stage-Capture-title">
            <a:extLst xmlns:a="http://schemas.openxmlformats.org/drawingml/2006/main">
              <a:ext uri="{FF2B5EF4-FFF2-40B4-BE49-F238E27FC236}">
                <a16:creationId xmlns:a16="http://schemas.microsoft.com/office/drawing/2014/main" id="{566BA734-2F2F-49C3-84C4-9198BF0CE9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571750"/>
            <a:ext cx="2952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000000"/>
                </a:solidFill>
              </a:defRPr>
            </a:pPr>
            <a:r>
              <a:rPr sz="2100" b="1">
                <a:solidFill>
                  <a:srgbClr val="000000"/>
                </a:solidFill>
              </a:rPr>
              <a:t>Capture</a:t>
            </a:r>
          </a:p>
        </p:txBody>
      </p:sp>
      <p:sp>
        <p:nvSpPr>
          <p:cNvPr id="8" name="qk-stage-Capture-desc">
            <a:extLst xmlns:a="http://schemas.openxmlformats.org/drawingml/2006/main">
              <a:ext uri="{FF2B5EF4-FFF2-40B4-BE49-F238E27FC236}">
                <a16:creationId xmlns:a16="http://schemas.microsoft.com/office/drawing/2014/main" id="{06D1B8BE-083E-4F5B-A330-38B61D95C9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162300"/>
            <a:ext cx="3000375" cy="1200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F6368"/>
                </a:solidFill>
              </a:defRPr>
            </a:pPr>
            <a:r>
              <a:rPr sz="1350" b="0">
                <a:solidFill>
                  <a:srgbClr val="5F6368"/>
                </a:solidFill>
              </a:rPr>
              <a:t>stage0 保存 pair_valid、q_idx、k_idx 與兩個 32-bit feature vector。</a:t>
            </a:r>
          </a:p>
        </p:txBody>
      </p:sp>
      <p:sp>
        <p:nvSpPr>
          <p:cNvPr id="9" name="qk-cycle-Cycle N+1">
            <a:extLst xmlns:a="http://schemas.openxmlformats.org/drawingml/2006/main">
              <a:ext uri="{FF2B5EF4-FFF2-40B4-BE49-F238E27FC236}">
                <a16:creationId xmlns:a16="http://schemas.microsoft.com/office/drawing/2014/main" id="{D6EE02E1-BED5-4616-8858-E1B9AA533D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1762125"/>
            <a:ext cx="2095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3D8DFF"/>
                </a:solidFill>
              </a:defRPr>
            </a:pPr>
            <a:r>
              <a:rPr sz="1350" b="1">
                <a:solidFill>
                  <a:srgbClr val="3D8DFF"/>
                </a:solidFill>
              </a:rPr>
              <a:t>Cycle N+1</a:t>
            </a:r>
          </a:p>
        </p:txBody>
      </p:sp>
      <p:sp>
        <p:nvSpPr>
          <p:cNvPr id="10" name="qk-stage-Multiply">
            <a:extLst xmlns:a="http://schemas.openxmlformats.org/drawingml/2006/main">
              <a:ext uri="{FF2B5EF4-FFF2-40B4-BE49-F238E27FC236}">
                <a16:creationId xmlns:a16="http://schemas.microsoft.com/office/drawing/2014/main" id="{7DB5EEBF-B678-4CED-BD89-808F701A00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2238375"/>
            <a:ext cx="3581400" cy="2647950"/>
          </a:xfrm>
          <a:prstGeom xmlns:a="http://schemas.openxmlformats.org/drawingml/2006/main" prst="roundRect">
            <a:avLst>
              <a:gd name="adj" fmla="val 2878"/>
            </a:avLst>
          </a:prstGeom>
          <a:solidFill xmlns:a="http://schemas.openxmlformats.org/drawingml/2006/main">
            <a:srgbClr val="D0EDFA"/>
          </a:solidFill>
          <a:ln xmlns:a="http://schemas.openxmlformats.org/drawingml/2006/main" w="9525">
            <a:solidFill>
              <a:srgbClr val="3D8DFF"/>
            </a:solidFill>
            <a:prstDash val="solid"/>
          </a:ln>
        </p:spPr>
      </p:sp>
      <p:sp>
        <p:nvSpPr>
          <p:cNvPr id="11" name="qk-stage-Multiply-title">
            <a:extLst xmlns:a="http://schemas.openxmlformats.org/drawingml/2006/main">
              <a:ext uri="{FF2B5EF4-FFF2-40B4-BE49-F238E27FC236}">
                <a16:creationId xmlns:a16="http://schemas.microsoft.com/office/drawing/2014/main" id="{9C9A5DEE-33DC-4CBC-B713-917264D99E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2571750"/>
            <a:ext cx="2952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000000"/>
                </a:solidFill>
              </a:defRPr>
            </a:pPr>
            <a:r>
              <a:rPr sz="2100" b="1">
                <a:solidFill>
                  <a:srgbClr val="000000"/>
                </a:solidFill>
              </a:rPr>
              <a:t>Multiply</a:t>
            </a:r>
          </a:p>
        </p:txBody>
      </p:sp>
      <p:sp>
        <p:nvSpPr>
          <p:cNvPr id="12" name="qk-stage-Multiply-desc">
            <a:extLst xmlns:a="http://schemas.openxmlformats.org/drawingml/2006/main">
              <a:ext uri="{FF2B5EF4-FFF2-40B4-BE49-F238E27FC236}">
                <a16:creationId xmlns:a16="http://schemas.microsoft.com/office/drawing/2014/main" id="{FA4CA55E-DD78-4BBB-8090-D0F96B6DB3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3162300"/>
            <a:ext cx="3000375" cy="1200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F6368"/>
                </a:solidFill>
              </a:defRPr>
            </a:pPr>
            <a:r>
              <a:rPr sz="1350" b="0">
                <a:solidFill>
                  <a:srgbClr val="5F6368"/>
                </a:solidFill>
              </a:rPr>
              <a:t>4 條 8×8 unsigned multiplier lane 平行運算；結果寫入 product_reg[0:3]。</a:t>
            </a:r>
          </a:p>
        </p:txBody>
      </p:sp>
      <p:sp>
        <p:nvSpPr>
          <p:cNvPr id="13" name="qk-cycle-Cycle N+2">
            <a:extLst xmlns:a="http://schemas.openxmlformats.org/drawingml/2006/main">
              <a:ext uri="{FF2B5EF4-FFF2-40B4-BE49-F238E27FC236}">
                <a16:creationId xmlns:a16="http://schemas.microsoft.com/office/drawing/2014/main" id="{525A590A-890E-4E41-93E4-F01360EC55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1762125"/>
            <a:ext cx="2095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3D8DFF"/>
                </a:solidFill>
              </a:defRPr>
            </a:pPr>
            <a:r>
              <a:rPr sz="1350" b="1">
                <a:solidFill>
                  <a:srgbClr val="3D8DFF"/>
                </a:solidFill>
              </a:rPr>
              <a:t>Cycle N+2</a:t>
            </a:r>
          </a:p>
        </p:txBody>
      </p:sp>
      <p:sp>
        <p:nvSpPr>
          <p:cNvPr id="14" name="qk-stage-Accumulate">
            <a:extLst xmlns:a="http://schemas.openxmlformats.org/drawingml/2006/main">
              <a:ext uri="{FF2B5EF4-FFF2-40B4-BE49-F238E27FC236}">
                <a16:creationId xmlns:a16="http://schemas.microsoft.com/office/drawing/2014/main" id="{142D9EBA-C3A3-4353-A89D-6FC4C1A72A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2238375"/>
            <a:ext cx="3581400" cy="2647950"/>
          </a:xfrm>
          <a:prstGeom xmlns:a="http://schemas.openxmlformats.org/drawingml/2006/main" prst="roundRect">
            <a:avLst>
              <a:gd name="adj" fmla="val 2878"/>
            </a:avLst>
          </a:prstGeom>
          <a:solidFill xmlns:a="http://schemas.openxmlformats.org/drawingml/2006/main">
            <a:srgbClr val="F7F7F7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5" name="qk-stage-Accumulate-title">
            <a:extLst xmlns:a="http://schemas.openxmlformats.org/drawingml/2006/main">
              <a:ext uri="{FF2B5EF4-FFF2-40B4-BE49-F238E27FC236}">
                <a16:creationId xmlns:a16="http://schemas.microsoft.com/office/drawing/2014/main" id="{A103E822-F239-4D7D-BCB2-929D91F1D7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2571750"/>
            <a:ext cx="2952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000000"/>
                </a:solidFill>
              </a:defRPr>
            </a:pPr>
            <a:r>
              <a:rPr sz="2100" b="1">
                <a:solidFill>
                  <a:srgbClr val="000000"/>
                </a:solidFill>
              </a:rPr>
              <a:t>Accumulate</a:t>
            </a:r>
          </a:p>
        </p:txBody>
      </p:sp>
      <p:sp>
        <p:nvSpPr>
          <p:cNvPr id="16" name="qk-stage-Accumulate-desc">
            <a:extLst xmlns:a="http://schemas.openxmlformats.org/drawingml/2006/main">
              <a:ext uri="{FF2B5EF4-FFF2-40B4-BE49-F238E27FC236}">
                <a16:creationId xmlns:a16="http://schemas.microsoft.com/office/drawing/2014/main" id="{B44ADFAB-F19A-4CB8-B4A9-56AE5853D7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3162300"/>
            <a:ext cx="3000375" cy="1200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F6368"/>
                </a:solidFill>
              </a:defRPr>
            </a:pPr>
            <a:r>
              <a:rPr sz="1350" b="0">
                <a:solidFill>
                  <a:srgbClr val="5F6368"/>
                </a:solidFill>
              </a:rPr>
              <a:t>組合加總 4 個 product_reg；score、q_idx、k_idx 與 score_valid 同步輸出。</a:t>
            </a:r>
          </a:p>
        </p:txBody>
      </p:sp>
      <p:sp>
        <p:nvSpPr>
          <p:cNvPr id="17" name="qk-stall">
            <a:extLst xmlns:a="http://schemas.openxmlformats.org/drawingml/2006/main">
              <a:ext uri="{FF2B5EF4-FFF2-40B4-BE49-F238E27FC236}">
                <a16:creationId xmlns:a16="http://schemas.microsoft.com/office/drawing/2014/main" id="{692F05A6-0387-4BBF-974C-DFE8C3E91F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372100"/>
            <a:ext cx="11391900" cy="666750"/>
          </a:xfrm>
          <a:prstGeom xmlns:a="http://schemas.openxmlformats.org/drawingml/2006/main" prst="roundRect">
            <a:avLst>
              <a:gd name="adj" fmla="val 11429"/>
            </a:avLst>
          </a:prstGeom>
          <a:solidFill xmlns:a="http://schemas.openxmlformats.org/drawingml/2006/main">
            <a:srgbClr val="EDEDED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8" name="qk-stall-text">
            <a:extLst xmlns:a="http://schemas.openxmlformats.org/drawingml/2006/main">
              <a:ext uri="{FF2B5EF4-FFF2-40B4-BE49-F238E27FC236}">
                <a16:creationId xmlns:a16="http://schemas.microsoft.com/office/drawing/2014/main" id="{DDDB7A2E-D501-4D82-B6FA-F5CA80E78C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5562600"/>
            <a:ext cx="10858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000000"/>
                </a:solidFill>
              </a:defRPr>
            </a:pPr>
            <a:r>
              <a:rPr sz="1425" b="1">
                <a:solidFill>
                  <a:srgbClr val="000000"/>
                </a:solidFill>
              </a:rPr>
              <a:t>Backpressure 規則：advance_ready=0 時，stage0、stage1 與 output registers 全部保持，pipeline 不錯位。</a:t>
            </a:r>
          </a:p>
        </p:txBody>
      </p:sp>
    </p:spTree>
    <p:extLst>
      <p:ext uri="{BB962C8B-B14F-4D97-AF65-F5344CB8AC3E}">
        <p14:creationId xmlns:p14="http://schemas.microsoft.com/office/powerpoint/2010/main" val="534334159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kicker-7">
            <a:extLst xmlns:a="http://schemas.openxmlformats.org/drawingml/2006/main">
              <a:ext uri="{FF2B5EF4-FFF2-40B4-BE49-F238E27FC236}">
                <a16:creationId xmlns:a16="http://schemas.microsoft.com/office/drawing/2014/main" id="{A4574143-D95F-4132-AF7F-14AC1077E8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66700"/>
            <a:ext cx="3810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5F6368"/>
                </a:solidFill>
              </a:defRPr>
            </a:pPr>
            <a:r>
              <a:rPr sz="1050" b="1">
                <a:solidFill>
                  <a:srgbClr val="5F6368"/>
                </a:solidFill>
              </a:rPr>
              <a:t>CHIP_TOP / RTL ARCHITECTURE</a:t>
            </a:r>
          </a:p>
        </p:txBody>
      </p:sp>
      <p:sp>
        <p:nvSpPr>
          <p:cNvPr id="2" name="title-7">
            <a:extLst xmlns:a="http://schemas.openxmlformats.org/drawingml/2006/main">
              <a:ext uri="{FF2B5EF4-FFF2-40B4-BE49-F238E27FC236}">
                <a16:creationId xmlns:a16="http://schemas.microsoft.com/office/drawing/2014/main" id="{B7E3D85D-07B9-4764-83F5-A68721BD37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23875"/>
            <a:ext cx="110490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850" b="0">
                <a:solidFill>
                  <a:srgbClr val="000000"/>
                </a:solidFill>
              </a:defRPr>
            </a:pPr>
            <a:r>
              <a:rPr sz="2850" b="0">
                <a:solidFill>
                  <a:srgbClr val="000000"/>
                </a:solidFill>
              </a:rPr>
              <a:t>Softmax 五態 FSM 完成正規化與 context 輸出</a:t>
            </a:r>
          </a:p>
        </p:txBody>
      </p:sp>
      <p:sp>
        <p:nvSpPr>
          <p:cNvPr id="3" name="accent-7">
            <a:extLst xmlns:a="http://schemas.openxmlformats.org/drawingml/2006/main">
              <a:ext uri="{FF2B5EF4-FFF2-40B4-BE49-F238E27FC236}">
                <a16:creationId xmlns:a16="http://schemas.microsoft.com/office/drawing/2014/main" id="{E54CEC14-ACD7-4CA9-A2E4-878D1DE1E6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219200"/>
            <a:ext cx="10477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solidFill>
              <a:srgbClr val="3D8DFF"/>
            </a:solidFill>
            <a:prstDash val="solid"/>
          </a:ln>
        </p:spPr>
      </p:sp>
      <p:sp>
        <p:nvSpPr>
          <p:cNvPr id="4" name="page-7">
            <a:extLst xmlns:a="http://schemas.openxmlformats.org/drawingml/2006/main">
              <a:ext uri="{FF2B5EF4-FFF2-40B4-BE49-F238E27FC236}">
                <a16:creationId xmlns:a16="http://schemas.microsoft.com/office/drawing/2014/main" id="{0DE5CF16-86FC-4EED-A46A-3C920237A2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334125"/>
            <a:ext cx="5524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5F6368"/>
                </a:solidFill>
              </a:defRPr>
            </a:pPr>
            <a:r>
              <a:rPr sz="975" b="0">
                <a:solidFill>
                  <a:srgbClr val="5F6368"/>
                </a:solidFill>
              </a:rPr>
              <a:t>07</a:t>
            </a:r>
          </a:p>
        </p:txBody>
      </p:sp>
      <p:sp>
        <p:nvSpPr>
          <p:cNvPr id="5" name="softmax-COLLECT">
            <a:extLst xmlns:a="http://schemas.openxmlformats.org/drawingml/2006/main">
              <a:ext uri="{FF2B5EF4-FFF2-40B4-BE49-F238E27FC236}">
                <a16:creationId xmlns:a16="http://schemas.microsoft.com/office/drawing/2014/main" id="{B32ACBB3-0A7F-4651-BA1C-5749612DA0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600200"/>
            <a:ext cx="2047875" cy="1762125"/>
          </a:xfrm>
          <a:prstGeom xmlns:a="http://schemas.openxmlformats.org/drawingml/2006/main" prst="roundRect">
            <a:avLst>
              <a:gd name="adj" fmla="val 4324"/>
            </a:avLst>
          </a:prstGeom>
          <a:solidFill xmlns:a="http://schemas.openxmlformats.org/drawingml/2006/main">
            <a:srgbClr val="F7F7F7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6" name="softmax-COLLECT-idx">
            <a:extLst xmlns:a="http://schemas.openxmlformats.org/drawingml/2006/main">
              <a:ext uri="{FF2B5EF4-FFF2-40B4-BE49-F238E27FC236}">
                <a16:creationId xmlns:a16="http://schemas.microsoft.com/office/drawing/2014/main" id="{D805D8B9-547B-478B-BAEE-DF4780B07C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752600"/>
            <a:ext cx="381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3D8DFF"/>
                </a:solidFill>
              </a:defRPr>
            </a:pPr>
            <a:r>
              <a:rPr sz="1050" b="1">
                <a:solidFill>
                  <a:srgbClr val="3D8DFF"/>
                </a:solidFill>
              </a:rPr>
              <a:t>01</a:t>
            </a:r>
          </a:p>
        </p:txBody>
      </p:sp>
      <p:sp>
        <p:nvSpPr>
          <p:cNvPr id="7" name="softmax-COLLECT-title">
            <a:extLst xmlns:a="http://schemas.openxmlformats.org/drawingml/2006/main">
              <a:ext uri="{FF2B5EF4-FFF2-40B4-BE49-F238E27FC236}">
                <a16:creationId xmlns:a16="http://schemas.microsoft.com/office/drawing/2014/main" id="{DD116BDB-632E-4507-981B-98E0AFB83C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095500"/>
            <a:ext cx="166687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000000"/>
                </a:solidFill>
              </a:defRPr>
            </a:pPr>
            <a:r>
              <a:rPr sz="1575" b="1">
                <a:solidFill>
                  <a:srgbClr val="000000"/>
                </a:solidFill>
              </a:rPr>
              <a:t>COLLECT</a:t>
            </a:r>
          </a:p>
        </p:txBody>
      </p:sp>
      <p:sp>
        <p:nvSpPr>
          <p:cNvPr id="8" name="softmax-COLLECT-desc">
            <a:extLst xmlns:a="http://schemas.openxmlformats.org/drawingml/2006/main">
              <a:ext uri="{FF2B5EF4-FFF2-40B4-BE49-F238E27FC236}">
                <a16:creationId xmlns:a16="http://schemas.microsoft.com/office/drawing/2014/main" id="{8C2B5B7A-DB81-42DC-8769-857F221B65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562225"/>
            <a:ext cx="1666875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F6368"/>
                </a:solidFill>
              </a:defRPr>
            </a:pPr>
            <a:r>
              <a:rPr sz="1200" b="0">
                <a:solidFill>
                  <a:srgbClr val="5F6368"/>
                </a:solidFill>
              </a:rPr>
              <a:t>收 score；比較 max、查 Q0.16 LUT。</a:t>
            </a:r>
          </a:p>
        </p:txBody>
      </p:sp>
      <p:sp>
        <p:nvSpPr>
          <p:cNvPr id="9" name="softmax-UPDATE">
            <a:extLst xmlns:a="http://schemas.openxmlformats.org/drawingml/2006/main">
              <a:ext uri="{FF2B5EF4-FFF2-40B4-BE49-F238E27FC236}">
                <a16:creationId xmlns:a16="http://schemas.microsoft.com/office/drawing/2014/main" id="{2E650A79-17A4-4BC4-B271-65F6820C5E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76525" y="1600200"/>
            <a:ext cx="2047875" cy="1762125"/>
          </a:xfrm>
          <a:prstGeom xmlns:a="http://schemas.openxmlformats.org/drawingml/2006/main" prst="roundRect">
            <a:avLst>
              <a:gd name="adj" fmla="val 4324"/>
            </a:avLst>
          </a:prstGeom>
          <a:solidFill xmlns:a="http://schemas.openxmlformats.org/drawingml/2006/main">
            <a:srgbClr val="F7F7F7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0" name="softmax-UPDATE-idx">
            <a:extLst xmlns:a="http://schemas.openxmlformats.org/drawingml/2006/main">
              <a:ext uri="{FF2B5EF4-FFF2-40B4-BE49-F238E27FC236}">
                <a16:creationId xmlns:a16="http://schemas.microsoft.com/office/drawing/2014/main" id="{4BB91F65-D80A-4A38-A66A-F3AA2EF269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47975" y="1752600"/>
            <a:ext cx="381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3D8DFF"/>
                </a:solidFill>
              </a:defRPr>
            </a:pPr>
            <a:r>
              <a:rPr sz="1050" b="1">
                <a:solidFill>
                  <a:srgbClr val="3D8DFF"/>
                </a:solidFill>
              </a:rPr>
              <a:t>02</a:t>
            </a:r>
          </a:p>
        </p:txBody>
      </p:sp>
      <p:sp>
        <p:nvSpPr>
          <p:cNvPr id="11" name="softmax-UPDATE-title">
            <a:extLst xmlns:a="http://schemas.openxmlformats.org/drawingml/2006/main">
              <a:ext uri="{FF2B5EF4-FFF2-40B4-BE49-F238E27FC236}">
                <a16:creationId xmlns:a16="http://schemas.microsoft.com/office/drawing/2014/main" id="{DFD9EF31-4112-42C1-9530-383490901D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47975" y="2095500"/>
            <a:ext cx="166687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000000"/>
                </a:solidFill>
              </a:defRPr>
            </a:pPr>
            <a:r>
              <a:rPr sz="1575" b="1">
                <a:solidFill>
                  <a:srgbClr val="000000"/>
                </a:solidFill>
              </a:rPr>
              <a:t>UPDATE</a:t>
            </a:r>
          </a:p>
        </p:txBody>
      </p:sp>
      <p:sp>
        <p:nvSpPr>
          <p:cNvPr id="12" name="softmax-UPDATE-desc">
            <a:extLst xmlns:a="http://schemas.openxmlformats.org/drawingml/2006/main">
              <a:ext uri="{FF2B5EF4-FFF2-40B4-BE49-F238E27FC236}">
                <a16:creationId xmlns:a16="http://schemas.microsoft.com/office/drawing/2014/main" id="{C9C9A9AC-44CE-4939-A1DD-651428F850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47975" y="2562225"/>
            <a:ext cx="1666875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F6368"/>
                </a:solidFill>
              </a:defRPr>
            </a:pPr>
            <a:r>
              <a:rPr sz="1200" b="0">
                <a:solidFill>
                  <a:srgbClr val="5F6368"/>
                </a:solidFill>
              </a:rPr>
              <a:t>逐 feature 累積 weighted sum；每 pair 4 cycles。</a:t>
            </a:r>
          </a:p>
        </p:txBody>
      </p:sp>
      <p:sp>
        <p:nvSpPr>
          <p:cNvPr id="13" name="softmax-PREPARE">
            <a:extLst xmlns:a="http://schemas.openxmlformats.org/drawingml/2006/main">
              <a:ext uri="{FF2B5EF4-FFF2-40B4-BE49-F238E27FC236}">
                <a16:creationId xmlns:a16="http://schemas.microsoft.com/office/drawing/2014/main" id="{0FBBC26F-D8B1-45D2-9445-4F5740BE82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1600200"/>
            <a:ext cx="2047875" cy="1762125"/>
          </a:xfrm>
          <a:prstGeom xmlns:a="http://schemas.openxmlformats.org/drawingml/2006/main" prst="roundRect">
            <a:avLst>
              <a:gd name="adj" fmla="val 4324"/>
            </a:avLst>
          </a:prstGeom>
          <a:solidFill xmlns:a="http://schemas.openxmlformats.org/drawingml/2006/main">
            <a:srgbClr val="F7F7F7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4" name="softmax-PREPARE-idx">
            <a:extLst xmlns:a="http://schemas.openxmlformats.org/drawingml/2006/main">
              <a:ext uri="{FF2B5EF4-FFF2-40B4-BE49-F238E27FC236}">
                <a16:creationId xmlns:a16="http://schemas.microsoft.com/office/drawing/2014/main" id="{EF195DB4-C9CF-4185-AEE2-00CCDC2827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24450" y="1752600"/>
            <a:ext cx="381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3D8DFF"/>
                </a:solidFill>
              </a:defRPr>
            </a:pPr>
            <a:r>
              <a:rPr sz="1050" b="1">
                <a:solidFill>
                  <a:srgbClr val="3D8DFF"/>
                </a:solidFill>
              </a:rPr>
              <a:t>03</a:t>
            </a:r>
          </a:p>
        </p:txBody>
      </p:sp>
      <p:sp>
        <p:nvSpPr>
          <p:cNvPr id="15" name="softmax-PREPARE-title">
            <a:extLst xmlns:a="http://schemas.openxmlformats.org/drawingml/2006/main">
              <a:ext uri="{FF2B5EF4-FFF2-40B4-BE49-F238E27FC236}">
                <a16:creationId xmlns:a16="http://schemas.microsoft.com/office/drawing/2014/main" id="{3276C83A-0695-48E8-A8DE-0C409F2A0C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24450" y="2095500"/>
            <a:ext cx="166687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000000"/>
                </a:solidFill>
              </a:defRPr>
            </a:pPr>
            <a:r>
              <a:rPr sz="1575" b="1">
                <a:solidFill>
                  <a:srgbClr val="000000"/>
                </a:solidFill>
              </a:rPr>
              <a:t>PREPARE</a:t>
            </a:r>
          </a:p>
        </p:txBody>
      </p:sp>
      <p:sp>
        <p:nvSpPr>
          <p:cNvPr id="16" name="softmax-PREPARE-desc">
            <a:extLst xmlns:a="http://schemas.openxmlformats.org/drawingml/2006/main">
              <a:ext uri="{FF2B5EF4-FFF2-40B4-BE49-F238E27FC236}">
                <a16:creationId xmlns:a16="http://schemas.microsoft.com/office/drawing/2014/main" id="{DE7A6E1D-0E73-4FCC-AAA0-C2FEE3DA9A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24450" y="2562225"/>
            <a:ext cx="1666875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F6368"/>
                </a:solidFill>
              </a:defRPr>
            </a:pPr>
            <a:r>
              <a:rPr sz="1200" b="0">
                <a:solidFill>
                  <a:srgbClr val="5F6368"/>
                </a:solidFill>
              </a:rPr>
              <a:t>選 q / feature；建立分子與分母。</a:t>
            </a:r>
          </a:p>
        </p:txBody>
      </p:sp>
      <p:sp>
        <p:nvSpPr>
          <p:cNvPr id="17" name="softmax-DIVIDE">
            <a:extLst xmlns:a="http://schemas.openxmlformats.org/drawingml/2006/main">
              <a:ext uri="{FF2B5EF4-FFF2-40B4-BE49-F238E27FC236}">
                <a16:creationId xmlns:a16="http://schemas.microsoft.com/office/drawing/2014/main" id="{A37949E1-A20D-4EA6-9C2B-ECEF0E2F16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29475" y="1600200"/>
            <a:ext cx="2047875" cy="1762125"/>
          </a:xfrm>
          <a:prstGeom xmlns:a="http://schemas.openxmlformats.org/drawingml/2006/main" prst="roundRect">
            <a:avLst>
              <a:gd name="adj" fmla="val 4324"/>
            </a:avLst>
          </a:prstGeom>
          <a:solidFill xmlns:a="http://schemas.openxmlformats.org/drawingml/2006/main">
            <a:srgbClr val="D0EDFA"/>
          </a:solidFill>
          <a:ln xmlns:a="http://schemas.openxmlformats.org/drawingml/2006/main" w="9525">
            <a:solidFill>
              <a:srgbClr val="3D8DFF"/>
            </a:solidFill>
            <a:prstDash val="solid"/>
          </a:ln>
        </p:spPr>
      </p:sp>
      <p:sp>
        <p:nvSpPr>
          <p:cNvPr id="18" name="softmax-DIVIDE-idx">
            <a:extLst xmlns:a="http://schemas.openxmlformats.org/drawingml/2006/main">
              <a:ext uri="{FF2B5EF4-FFF2-40B4-BE49-F238E27FC236}">
                <a16:creationId xmlns:a16="http://schemas.microsoft.com/office/drawing/2014/main" id="{6F91FA99-4DDA-43C1-8A10-92BEB49D82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00925" y="1752600"/>
            <a:ext cx="381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3D8DFF"/>
                </a:solidFill>
              </a:defRPr>
            </a:pPr>
            <a:r>
              <a:rPr sz="1050" b="1">
                <a:solidFill>
                  <a:srgbClr val="3D8DFF"/>
                </a:solidFill>
              </a:rPr>
              <a:t>04</a:t>
            </a:r>
          </a:p>
        </p:txBody>
      </p:sp>
      <p:sp>
        <p:nvSpPr>
          <p:cNvPr id="19" name="softmax-DIVIDE-title">
            <a:extLst xmlns:a="http://schemas.openxmlformats.org/drawingml/2006/main">
              <a:ext uri="{FF2B5EF4-FFF2-40B4-BE49-F238E27FC236}">
                <a16:creationId xmlns:a16="http://schemas.microsoft.com/office/drawing/2014/main" id="{76FE64C1-FCCC-4CD8-B6BC-266FF3EE3B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00925" y="2095500"/>
            <a:ext cx="166687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000000"/>
                </a:solidFill>
              </a:defRPr>
            </a:pPr>
            <a:r>
              <a:rPr sz="1575" b="1">
                <a:solidFill>
                  <a:srgbClr val="000000"/>
                </a:solidFill>
              </a:rPr>
              <a:t>DIVIDE</a:t>
            </a:r>
          </a:p>
        </p:txBody>
      </p:sp>
      <p:sp>
        <p:nvSpPr>
          <p:cNvPr id="20" name="softmax-DIVIDE-desc">
            <a:extLst xmlns:a="http://schemas.openxmlformats.org/drawingml/2006/main">
              <a:ext uri="{FF2B5EF4-FFF2-40B4-BE49-F238E27FC236}">
                <a16:creationId xmlns:a16="http://schemas.microsoft.com/office/drawing/2014/main" id="{A627DC52-69A9-4DB2-9687-264882D2F8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00925" y="2562225"/>
            <a:ext cx="1666875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F6368"/>
                </a:solidFill>
              </a:defRPr>
            </a:pPr>
            <a:r>
              <a:rPr sz="1200" b="0">
                <a:solidFill>
                  <a:srgbClr val="5F6368"/>
                </a:solidFill>
              </a:rPr>
              <a:t>逐 bit restoring divide；16 cycles。</a:t>
            </a:r>
          </a:p>
        </p:txBody>
      </p:sp>
      <p:sp>
        <p:nvSpPr>
          <p:cNvPr id="21" name="softmax-OUTPUT">
            <a:extLst xmlns:a="http://schemas.openxmlformats.org/drawingml/2006/main">
              <a:ext uri="{FF2B5EF4-FFF2-40B4-BE49-F238E27FC236}">
                <a16:creationId xmlns:a16="http://schemas.microsoft.com/office/drawing/2014/main" id="{8C5C86A0-986A-4141-86A7-28E6C48363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05950" y="1600200"/>
            <a:ext cx="2047875" cy="1762125"/>
          </a:xfrm>
          <a:prstGeom xmlns:a="http://schemas.openxmlformats.org/drawingml/2006/main" prst="roundRect">
            <a:avLst>
              <a:gd name="adj" fmla="val 4324"/>
            </a:avLst>
          </a:prstGeom>
          <a:solidFill xmlns:a="http://schemas.openxmlformats.org/drawingml/2006/main">
            <a:srgbClr val="F7F7F7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22" name="softmax-OUTPUT-idx">
            <a:extLst xmlns:a="http://schemas.openxmlformats.org/drawingml/2006/main">
              <a:ext uri="{FF2B5EF4-FFF2-40B4-BE49-F238E27FC236}">
                <a16:creationId xmlns:a16="http://schemas.microsoft.com/office/drawing/2014/main" id="{481C7FCE-9ED0-4EF6-9B5B-F428D7F030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77400" y="1752600"/>
            <a:ext cx="381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3D8DFF"/>
                </a:solidFill>
              </a:defRPr>
            </a:pPr>
            <a:r>
              <a:rPr sz="1050" b="1">
                <a:solidFill>
                  <a:srgbClr val="3D8DFF"/>
                </a:solidFill>
              </a:rPr>
              <a:t>05</a:t>
            </a:r>
          </a:p>
        </p:txBody>
      </p:sp>
      <p:sp>
        <p:nvSpPr>
          <p:cNvPr id="23" name="softmax-OUTPUT-title">
            <a:extLst xmlns:a="http://schemas.openxmlformats.org/drawingml/2006/main">
              <a:ext uri="{FF2B5EF4-FFF2-40B4-BE49-F238E27FC236}">
                <a16:creationId xmlns:a16="http://schemas.microsoft.com/office/drawing/2014/main" id="{BCDB517F-4F89-4639-BCCD-15E87CAA19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77400" y="2095500"/>
            <a:ext cx="166687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000000"/>
                </a:solidFill>
              </a:defRPr>
            </a:pPr>
            <a:r>
              <a:rPr sz="1575" b="1">
                <a:solidFill>
                  <a:srgbClr val="000000"/>
                </a:solidFill>
              </a:rPr>
              <a:t>OUTPUT</a:t>
            </a:r>
          </a:p>
        </p:txBody>
      </p:sp>
      <p:sp>
        <p:nvSpPr>
          <p:cNvPr id="24" name="softmax-OUTPUT-desc">
            <a:extLst xmlns:a="http://schemas.openxmlformats.org/drawingml/2006/main">
              <a:ext uri="{FF2B5EF4-FFF2-40B4-BE49-F238E27FC236}">
                <a16:creationId xmlns:a16="http://schemas.microsoft.com/office/drawing/2014/main" id="{FB24437D-325D-4AE0-AD7A-7D41CC8D6E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77400" y="2562225"/>
            <a:ext cx="1666875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F6368"/>
                </a:solidFill>
              </a:defRPr>
            </a:pPr>
            <a:r>
              <a:rPr sz="1200" b="0">
                <a:solidFill>
                  <a:srgbClr val="5F6368"/>
                </a:solidFill>
              </a:rPr>
              <a:t>Handshake 後推進 q / feature；最後拉 done。</a:t>
            </a:r>
          </a:p>
        </p:txBody>
      </p:sp>
      <p:sp>
        <p:nvSpPr>
          <p:cNvPr id="25" name="softmax-storage-title">
            <a:extLst xmlns:a="http://schemas.openxmlformats.org/drawingml/2006/main">
              <a:ext uri="{FF2B5EF4-FFF2-40B4-BE49-F238E27FC236}">
                <a16:creationId xmlns:a16="http://schemas.microsoft.com/office/drawing/2014/main" id="{9A13F8A3-F50C-420F-9276-691FF270BF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781425"/>
            <a:ext cx="4572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000000"/>
                </a:solidFill>
              </a:defRPr>
            </a:pPr>
            <a:r>
              <a:rPr sz="1800" b="1">
                <a:solidFill>
                  <a:srgbClr val="000000"/>
                </a:solidFill>
              </a:rPr>
              <a:t>核心狀態與儲存體（預設參數）</a:t>
            </a:r>
          </a:p>
        </p:txBody>
      </p:sp>
      <p:sp>
        <p:nvSpPr>
          <p:cNvPr id="26" name="softmax-storage">
            <a:extLst xmlns:a="http://schemas.openxmlformats.org/drawingml/2006/main">
              <a:ext uri="{FF2B5EF4-FFF2-40B4-BE49-F238E27FC236}">
                <a16:creationId xmlns:a16="http://schemas.microsoft.com/office/drawing/2014/main" id="{BFE3DAA3-A13E-4FF0-9D4E-B038EC0943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267200"/>
            <a:ext cx="7239000" cy="1352550"/>
          </a:xfrm>
          <a:prstGeom xmlns:a="http://schemas.openxmlformats.org/drawingml/2006/main" prst="roundRect">
            <a:avLst>
              <a:gd name="adj" fmla="val 5634"/>
            </a:avLst>
          </a:prstGeom>
          <a:solidFill xmlns:a="http://schemas.openxmlformats.org/drawingml/2006/main">
            <a:srgbClr val="EDEDED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27" name="softmax-storage-body">
            <a:extLst xmlns:a="http://schemas.openxmlformats.org/drawingml/2006/main">
              <a:ext uri="{FF2B5EF4-FFF2-40B4-BE49-F238E27FC236}">
                <a16:creationId xmlns:a16="http://schemas.microsoft.com/office/drawing/2014/main" id="{08698B21-6817-44D9-A93A-588EEFAB7B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457700"/>
            <a:ext cx="34290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000000"/>
                </a:solidFill>
              </a:defRPr>
            </a:pPr>
            <a:r>
              <a:rPr sz="1350" b="0">
                <a:solidFill>
                  <a:srgbClr val="000000"/>
                </a:solidFill>
              </a:rPr>
              <a:t>row_initialized 128 × 1</a:t>
            </a:r>
          </a:p>
          <a:p xmlns:a="http://schemas.openxmlformats.org/drawingml/2006/main">
            <a:pPr algn="l">
              <a:defRPr sz="1350" b="0">
                <a:solidFill>
                  <a:srgbClr val="000000"/>
                </a:solidFill>
              </a:defRPr>
            </a:pPr>
            <a:r>
              <a:rPr sz="1350" b="0">
                <a:solidFill>
                  <a:srgbClr val="000000"/>
                </a:solidFill>
              </a:rPr>
              <a:t>row_max 128 × 32</a:t>
            </a:r>
          </a:p>
          <a:p xmlns:a="http://schemas.openxmlformats.org/drawingml/2006/main">
            <a:pPr algn="l">
              <a:defRPr sz="1350" b="0">
                <a:solidFill>
                  <a:srgbClr val="000000"/>
                </a:solidFill>
              </a:defRPr>
            </a:pPr>
            <a:r>
              <a:rPr sz="1350" b="0">
                <a:solidFill>
                  <a:srgbClr val="000000"/>
                </a:solidFill>
              </a:rPr>
              <a:t>row_exp_sum 128 × 25</a:t>
            </a:r>
          </a:p>
          <a:p xmlns:a="http://schemas.openxmlformats.org/drawingml/2006/main">
            <a:pPr algn="l">
              <a:defRPr sz="1350" b="0">
                <a:solidFill>
                  <a:srgbClr val="000000"/>
                </a:solidFill>
              </a:defRPr>
            </a:pPr>
            <a:r>
              <a:rPr sz="1350" b="0">
                <a:solidFill>
                  <a:srgbClr val="000000"/>
                </a:solidFill>
              </a:rPr>
              <a:t>row_weighted_sum 512 × 48</a:t>
            </a:r>
          </a:p>
        </p:txBody>
      </p:sp>
      <p:sp>
        <p:nvSpPr>
          <p:cNvPr id="28" name="softmax-storage-body2">
            <a:extLst xmlns:a="http://schemas.openxmlformats.org/drawingml/2006/main">
              <a:ext uri="{FF2B5EF4-FFF2-40B4-BE49-F238E27FC236}">
                <a16:creationId xmlns:a16="http://schemas.microsoft.com/office/drawing/2014/main" id="{54DB10CE-EA48-4FB6-981A-6103E02182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38625" y="4457700"/>
            <a:ext cx="30480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000000"/>
                </a:solidFill>
              </a:defRPr>
            </a:pPr>
            <a:r>
              <a:rPr sz="1350" b="0">
                <a:solidFill>
                  <a:srgbClr val="000000"/>
                </a:solidFill>
              </a:rPr>
              <a:t>exp_lut：Q0.16</a:t>
            </a:r>
          </a:p>
          <a:p xmlns:a="http://schemas.openxmlformats.org/drawingml/2006/main">
            <a:pPr algn="l">
              <a:defRPr sz="1350" b="0">
                <a:solidFill>
                  <a:srgbClr val="000000"/>
                </a:solidFill>
              </a:defRPr>
            </a:pPr>
            <a:r>
              <a:rPr sz="1350" b="0">
                <a:solidFill>
                  <a:srgbClr val="000000"/>
                </a:solidFill>
              </a:rPr>
              <a:t>score scale：右移 1</a:t>
            </a:r>
          </a:p>
          <a:p xmlns:a="http://schemas.openxmlformats.org/drawingml/2006/main">
            <a:pPr algn="l">
              <a:defRPr sz="1350" b="0">
                <a:solidFill>
                  <a:srgbClr val="000000"/>
                </a:solidFill>
              </a:defRPr>
            </a:pPr>
            <a:r>
              <a:rPr sz="1350" b="0">
                <a:solidFill>
                  <a:srgbClr val="000000"/>
                </a:solidFill>
              </a:rPr>
              <a:t>context：16-bit fixed-point</a:t>
            </a:r>
          </a:p>
          <a:p xmlns:a="http://schemas.openxmlformats.org/drawingml/2006/main">
            <a:pPr algn="l">
              <a:defRPr sz="1350" b="0">
                <a:solidFill>
                  <a:srgbClr val="000000"/>
                </a:solidFill>
              </a:defRPr>
            </a:pPr>
            <a:r>
              <a:rPr sz="1350" b="0">
                <a:solidFill>
                  <a:srgbClr val="000000"/>
                </a:solidFill>
              </a:rPr>
              <a:t>輸出順序：q-major / feature-minor</a:t>
            </a:r>
          </a:p>
        </p:txBody>
      </p:sp>
      <p:sp>
        <p:nvSpPr>
          <p:cNvPr id="29" name="softmax-conclusion">
            <a:extLst xmlns:a="http://schemas.openxmlformats.org/drawingml/2006/main">
              <a:ext uri="{FF2B5EF4-FFF2-40B4-BE49-F238E27FC236}">
                <a16:creationId xmlns:a16="http://schemas.microsoft.com/office/drawing/2014/main" id="{4B127A88-233F-45B6-82C9-6D34695222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53375" y="3781425"/>
            <a:ext cx="3838575" cy="1838325"/>
          </a:xfrm>
          <a:prstGeom xmlns:a="http://schemas.openxmlformats.org/drawingml/2006/main" prst="roundRect">
            <a:avLst>
              <a:gd name="adj" fmla="val 4145"/>
            </a:avLst>
          </a:prstGeom>
          <a:solidFill xmlns:a="http://schemas.openxmlformats.org/drawingml/2006/main">
            <a:srgbClr val="D0EDFA"/>
          </a:solidFill>
          <a:ln xmlns:a="http://schemas.openxmlformats.org/drawingml/2006/main" w="9525">
            <a:solidFill>
              <a:srgbClr val="3D8DFF"/>
            </a:solidFill>
            <a:prstDash val="solid"/>
          </a:ln>
        </p:spPr>
      </p:sp>
      <p:sp>
        <p:nvSpPr>
          <p:cNvPr id="30" name="softmax-conclusion-title">
            <a:extLst xmlns:a="http://schemas.openxmlformats.org/drawingml/2006/main">
              <a:ext uri="{FF2B5EF4-FFF2-40B4-BE49-F238E27FC236}">
                <a16:creationId xmlns:a16="http://schemas.microsoft.com/office/drawing/2014/main" id="{0FB4A31C-AB32-4AD9-B762-A5B94A8AB7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9125" y="4067175"/>
            <a:ext cx="3238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000000"/>
                </a:solidFill>
              </a:defRPr>
            </a:pPr>
            <a:r>
              <a:rPr sz="1800" b="1">
                <a:solidFill>
                  <a:srgbClr val="000000"/>
                </a:solidFill>
              </a:rPr>
              <a:t>實作焦點</a:t>
            </a:r>
          </a:p>
        </p:txBody>
      </p:sp>
      <p:sp>
        <p:nvSpPr>
          <p:cNvPr id="31" name="softmax-conclusion-body">
            <a:extLst xmlns:a="http://schemas.openxmlformats.org/drawingml/2006/main">
              <a:ext uri="{FF2B5EF4-FFF2-40B4-BE49-F238E27FC236}">
                <a16:creationId xmlns:a16="http://schemas.microsoft.com/office/drawing/2014/main" id="{5313A2F8-975F-46E9-9F6F-ADE9D9EFCF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9125" y="4572000"/>
            <a:ext cx="31432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000000"/>
                </a:solidFill>
              </a:defRPr>
            </a:pPr>
            <a:r>
              <a:rPr sz="1350" b="0">
                <a:solidFill>
                  <a:srgbClr val="000000"/>
                </a:solidFill>
              </a:rPr>
              <a:t>最大儲存體是 weighted sum；最大固定延遲來自逐 bit divider。後續若要優化面積或 throughput，優先從這兩處著手。</a:t>
            </a:r>
          </a:p>
        </p:txBody>
      </p:sp>
      <p:sp>
        <p:nvSpPr>
          <p:cNvPr id="32" name="softmax-close">
            <a:extLst xmlns:a="http://schemas.openxmlformats.org/drawingml/2006/main">
              <a:ext uri="{FF2B5EF4-FFF2-40B4-BE49-F238E27FC236}">
                <a16:creationId xmlns:a16="http://schemas.microsoft.com/office/drawing/2014/main" id="{7C1C9D79-B632-44A9-B065-1E99AF6409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905500"/>
            <a:ext cx="10668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00000"/>
                </a:solidFill>
              </a:defRPr>
            </a:pPr>
            <a:r>
              <a:rPr sz="1350" b="1">
                <a:solidFill>
                  <a:srgbClr val="000000"/>
                </a:solidFill>
              </a:rPr>
              <a:t>結論：四個子模組分別隔離控制、儲存、MAC pipeline 與正規化狀態，便於獨立驗證與後續最佳化。</a:t>
            </a:r>
          </a:p>
        </p:txBody>
      </p:sp>
    </p:spTree>
    <p:extLst>
      <p:ext uri="{BB962C8B-B14F-4D97-AF65-F5344CB8AC3E}">
        <p14:creationId xmlns:p14="http://schemas.microsoft.com/office/powerpoint/2010/main" val="2144106189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2026-07-13T10:42:52.1750000Z</dcterms:created>
  <dcterms:modified xsi:type="dcterms:W3CDTF">2026-07-13T10:42:52.1750000Z</dcterms:modified>
</coreProperties>
</file>