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4b4cbe80da432a" /><Relationship Type="http://schemas.openxmlformats.org/officeDocument/2006/relationships/extended-properties" Target="/docProps/app.xml" Id="R1ccf1db72d334583" /><Relationship Type="http://schemas.openxmlformats.org/officeDocument/2006/relationships/officeDocument" Target="/ppt/presentation.xml" Id="Ra286db04427641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4be58cf3840e9"/>
  </p:sldMasterIdLst>
  <p:notesMasterIdLst>
    <p:notesMasterId xmlns:r="http://schemas.openxmlformats.org/officeDocument/2006/relationships" r:id="R1e7078fd66264c17"/>
  </p:notesMasterIdLst>
  <p:sldIdLst>
    <p:sldId xmlns:r="http://schemas.openxmlformats.org/officeDocument/2006/relationships" id="256" r:id="R56eee85eea3e4051"/>
    <p:sldId xmlns:r="http://schemas.openxmlformats.org/officeDocument/2006/relationships" id="257" r:id="R0445762c5ec34e5a"/>
    <p:sldId xmlns:r="http://schemas.openxmlformats.org/officeDocument/2006/relationships" id="258" r:id="R2dfa40c9611049c5"/>
    <p:sldId xmlns:r="http://schemas.openxmlformats.org/officeDocument/2006/relationships" id="259" r:id="Rb73cf2d12d0a4931"/>
    <p:sldId xmlns:r="http://schemas.openxmlformats.org/officeDocument/2006/relationships" id="260" r:id="R9001acee95c2437d"/>
    <p:sldId xmlns:r="http://schemas.openxmlformats.org/officeDocument/2006/relationships" id="261" r:id="R0f35ee37e876474a"/>
    <p:sldId xmlns:r="http://schemas.openxmlformats.org/officeDocument/2006/relationships" id="262" r:id="Rfcd5822b9d6c4496"/>
    <p:sldId xmlns:r="http://schemas.openxmlformats.org/officeDocument/2006/relationships" id="263" r:id="R60ca0b69b2964f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9021f3aa4d4ba9" /><Relationship Type="http://schemas.openxmlformats.org/officeDocument/2006/relationships/slideMaster" Target="/ppt/slideMasters/slideMaster1.xml" Id="Rf884be58cf3840e9" /><Relationship Type="http://schemas.openxmlformats.org/officeDocument/2006/relationships/notesMaster" Target="/ppt/notesMasters/notesMaster1.xml" Id="R1e7078fd66264c17" /><Relationship Type="http://schemas.openxmlformats.org/officeDocument/2006/relationships/presProps" Target="/ppt/presProps.xml" Id="Rdc9f96938fe94fcf" /><Relationship Type="http://schemas.openxmlformats.org/officeDocument/2006/relationships/tableStyles" Target="/ppt/tableStyles.xml" Id="R9aa2f1d536c146f4" /><Relationship Type="http://schemas.openxmlformats.org/officeDocument/2006/relationships/slide" Target="/ppt/slides/slide1.xml" Id="R56eee85eea3e4051" /><Relationship Type="http://schemas.openxmlformats.org/officeDocument/2006/relationships/slide" Target="/ppt/slides/slide2.xml" Id="R0445762c5ec34e5a" /><Relationship Type="http://schemas.openxmlformats.org/officeDocument/2006/relationships/slide" Target="/ppt/slides/slide3.xml" Id="R2dfa40c9611049c5" /><Relationship Type="http://schemas.openxmlformats.org/officeDocument/2006/relationships/slide" Target="/ppt/slides/slide4.xml" Id="Rb73cf2d12d0a4931" /><Relationship Type="http://schemas.openxmlformats.org/officeDocument/2006/relationships/slide" Target="/ppt/slides/slide5.xml" Id="R9001acee95c2437d" /><Relationship Type="http://schemas.openxmlformats.org/officeDocument/2006/relationships/slide" Target="/ppt/slides/slide6.xml" Id="R0f35ee37e876474a" /><Relationship Type="http://schemas.openxmlformats.org/officeDocument/2006/relationships/slide" Target="/ppt/slides/slide7.xml" Id="Rfcd5822b9d6c4496" /><Relationship Type="http://schemas.openxmlformats.org/officeDocument/2006/relationships/slide" Target="/ppt/slides/slide8.xml" Id="R60ca0b69b296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22049252e440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70a98494984c6b" /><Relationship Type="http://schemas.openxmlformats.org/officeDocument/2006/relationships/notesMaster" Target="/ppt/notesMasters/notesMaster1.xml" Id="Rab7181b202ce42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f7c4d00d6b403a" /><Relationship Type="http://schemas.openxmlformats.org/officeDocument/2006/relationships/notesMaster" Target="/ppt/notesMasters/notesMaster1.xml" Id="R65fc79754d99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59a126f839440a" /><Relationship Type="http://schemas.openxmlformats.org/officeDocument/2006/relationships/notesMaster" Target="/ppt/notesMasters/notesMaster1.xml" Id="Rda851b2ff0e148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3dbe573ceb414f" /><Relationship Type="http://schemas.openxmlformats.org/officeDocument/2006/relationships/notesMaster" Target="/ppt/notesMasters/notesMaster1.xml" Id="R7bb41fe43e36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a6a4cf4f6b4b0a" /><Relationship Type="http://schemas.openxmlformats.org/officeDocument/2006/relationships/notesMaster" Target="/ppt/notesMasters/notesMaster1.xml" Id="Rf33d568d2bf648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1d49c6b8a34e7e" /><Relationship Type="http://schemas.openxmlformats.org/officeDocument/2006/relationships/notesMaster" Target="/ppt/notesMasters/notesMaster1.xml" Id="Re809f906604442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bc2f8044be44d8" /><Relationship Type="http://schemas.openxmlformats.org/officeDocument/2006/relationships/notesMaster" Target="/ppt/notesMasters/notesMaster1.xml" Id="R8ac27075439047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09534e54c543f3" /><Relationship Type="http://schemas.openxmlformats.org/officeDocument/2006/relationships/notesMaster" Target="/ppt/notesMasters/notesMaster1.xml" Id="R490f1c80e0094d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2572a0ba3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bf75440a194956" /><Relationship Type="http://schemas.openxmlformats.org/officeDocument/2006/relationships/slideLayout" Target="/ppt/slideLayouts/slideLayout1.xml" Id="Rcdcdf8996ae44f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df8996ae44f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4499abd024134" /><Relationship Type="http://schemas.openxmlformats.org/officeDocument/2006/relationships/notesSlide" Target="/ppt/notesSlides/notesSlide1.xml" Id="R601782eedde743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9e758597640b9" /><Relationship Type="http://schemas.openxmlformats.org/officeDocument/2006/relationships/notesSlide" Target="/ppt/notesSlides/notesSlide2.xml" Id="Rf1611a47ca1347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95cac7e2d4289" /><Relationship Type="http://schemas.openxmlformats.org/officeDocument/2006/relationships/notesSlide" Target="/ppt/notesSlides/notesSlide3.xml" Id="R9e27c9ed237f41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cc4391a184e2f" /><Relationship Type="http://schemas.openxmlformats.org/officeDocument/2006/relationships/notesSlide" Target="/ppt/notesSlides/notesSlide4.xml" Id="R3ae72770ef6842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d9ec5b79b4dc8" /><Relationship Type="http://schemas.openxmlformats.org/officeDocument/2006/relationships/notesSlide" Target="/ppt/notesSlides/notesSlide5.xml" Id="R8dcbf5483138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2e6fbac994bf1" /><Relationship Type="http://schemas.openxmlformats.org/officeDocument/2006/relationships/notesSlide" Target="/ppt/notesSlides/notesSlide6.xml" Id="R38981fa5e05643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a13afc4ec49e5" /><Relationship Type="http://schemas.openxmlformats.org/officeDocument/2006/relationships/notesSlide" Target="/ppt/notesSlides/notesSlide7.xml" Id="R49af55ce875047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54b4ba215435b" /><Relationship Type="http://schemas.openxmlformats.org/officeDocument/2006/relationships/notesSlide" Target="/ppt/notesSlides/notesSlide8.xml" Id="Rea4c59b7b1ab43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79547B6-F164-499A-9960-CDE664E5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AI CHIP RTL / INTERNAL ARCHITECTURE</a:t>
            </a:r>
          </a:p>
        </p:txBody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0E8228C4-3DAF-4CD9-89CF-D858CF5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CA768C8-AE0E-4CA9-A1F9-B20145B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chip_top 子模組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內部設計方塊圖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52E8E240-37A1-4F10-A370-DA5CFF0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Streamer、QKV memory、QK accumulator 與 sparse softmax/SV 的資料路徑與控制規劃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9B29D855-5207-469A-9589-91379F3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9241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DDF6FF"/>
            </a:solidFill>
            <a:prstDash val="solid"/>
          </a:ln>
        </p:spPr>
      </p:sp>
      <p:sp>
        <p:nvSpPr>
          <p:cNvPr id="6" name="cover-tag-text">
            <a:extLst xmlns:a="http://schemas.openxmlformats.org/drawingml/2006/main">
              <a:ext uri="{FF2B5EF4-FFF2-40B4-BE49-F238E27FC236}">
                <a16:creationId xmlns:a16="http://schemas.microsoft.com/office/drawing/2014/main" id="{10E61F8B-D61F-4EA3-AF56-FB64B82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62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只畫模組內部結構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不展開外部 I/O pin/net</a:t>
            </a:r>
          </a:p>
        </p:txBody>
      </p:sp>
    </p:spTree>
    <p:extLst>
      <p:ext uri="{BB962C8B-B14F-4D97-AF65-F5344CB8AC3E}">
        <p14:creationId xmlns:p14="http://schemas.microsoft.com/office/powerpoint/2010/main" val="1410909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1D62E003-FB6D-4272-AD24-AE80CF0E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chip_top 的主要運算集中在 sparse_attention_core</a:t>
            </a:r>
          </a:p>
        </p:txBody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36B19F78-2477-4189-9462-3C09DE81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71926E1-1AF9-4FCD-9FBF-7786642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4" name="h-a1">
            <a:extLst xmlns:a="http://schemas.openxmlformats.org/drawingml/2006/main">
              <a:ext uri="{FF2B5EF4-FFF2-40B4-BE49-F238E27FC236}">
                <a16:creationId xmlns:a16="http://schemas.microsoft.com/office/drawing/2014/main" id="{FF885343-207A-4B6B-826D-7C83A3A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876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h-a2">
            <a:extLst xmlns:a="http://schemas.openxmlformats.org/drawingml/2006/main">
              <a:ext uri="{FF2B5EF4-FFF2-40B4-BE49-F238E27FC236}">
                <a16:creationId xmlns:a16="http://schemas.microsoft.com/office/drawing/2014/main" id="{A3CA21BD-40AC-417E-A152-DEFACB1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876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h-top-box">
            <a:extLst xmlns:a="http://schemas.openxmlformats.org/drawingml/2006/main">
              <a:ext uri="{FF2B5EF4-FFF2-40B4-BE49-F238E27FC236}">
                <a16:creationId xmlns:a16="http://schemas.microsoft.com/office/drawing/2014/main" id="{6D8F3372-A46D-42A6-8DF5-C9B616EC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7" name="h-top-title">
            <a:extLst xmlns:a="http://schemas.openxmlformats.org/drawingml/2006/main">
              <a:ext uri="{FF2B5EF4-FFF2-40B4-BE49-F238E27FC236}">
                <a16:creationId xmlns:a16="http://schemas.microsoft.com/office/drawing/2014/main" id="{6B5BF2E2-1DBC-4353-BC5C-2AA1170F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chip_top</a:t>
            </a:r>
          </a:p>
        </p:txBody>
      </p:sp>
      <p:sp>
        <p:nvSpPr>
          <p:cNvPr id="8" name="h-top-body">
            <a:extLst xmlns:a="http://schemas.openxmlformats.org/drawingml/2006/main">
              <a:ext uri="{FF2B5EF4-FFF2-40B4-BE49-F238E27FC236}">
                <a16:creationId xmlns:a16="http://schemas.microsoft.com/office/drawing/2014/main" id="{35B5C947-CBFD-4F4D-991F-27222FB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reset / bus control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result FIFO</a:t>
            </a:r>
          </a:p>
        </p:txBody>
      </p:sp>
      <p:sp>
        <p:nvSpPr>
          <p:cNvPr id="9" name="h-core-box">
            <a:extLst xmlns:a="http://schemas.openxmlformats.org/drawingml/2006/main">
              <a:ext uri="{FF2B5EF4-FFF2-40B4-BE49-F238E27FC236}">
                <a16:creationId xmlns:a16="http://schemas.microsoft.com/office/drawing/2014/main" id="{328AC2CC-23C9-414B-908F-B2CE6685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h-core-title">
            <a:extLst xmlns:a="http://schemas.openxmlformats.org/drawingml/2006/main">
              <a:ext uri="{FF2B5EF4-FFF2-40B4-BE49-F238E27FC236}">
                <a16:creationId xmlns:a16="http://schemas.microsoft.com/office/drawing/2014/main" id="{E4CFBCCC-CE9B-4900-BB0E-060D81F7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335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sparse_attention_core</a:t>
            </a:r>
          </a:p>
        </p:txBody>
      </p:sp>
      <p:sp>
        <p:nvSpPr>
          <p:cNvPr id="11" name="h-core-body">
            <a:extLst xmlns:a="http://schemas.openxmlformats.org/drawingml/2006/main">
              <a:ext uri="{FF2B5EF4-FFF2-40B4-BE49-F238E27FC236}">
                <a16:creationId xmlns:a16="http://schemas.microsoft.com/office/drawing/2014/main" id="{8FE8618B-EF25-4153-B3EF-7BD84E32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pair → feature → score → context</a:t>
            </a:r>
          </a:p>
        </p:txBody>
      </p:sp>
      <p:sp>
        <p:nvSpPr>
          <p:cNvPr id="12" name="h-sub-box">
            <a:extLst xmlns:a="http://schemas.openxmlformats.org/drawingml/2006/main">
              <a:ext uri="{FF2B5EF4-FFF2-40B4-BE49-F238E27FC236}">
                <a16:creationId xmlns:a16="http://schemas.microsoft.com/office/drawing/2014/main" id="{FB6075B6-AF9A-444D-A767-3FC9E5B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4076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3" name="h-sub-title">
            <a:extLst xmlns:a="http://schemas.openxmlformats.org/drawingml/2006/main">
              <a:ext uri="{FF2B5EF4-FFF2-40B4-BE49-F238E27FC236}">
                <a16:creationId xmlns:a16="http://schemas.microsoft.com/office/drawing/2014/main" id="{F5A01CB8-BEF6-4597-9000-B27A009C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33575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五個核心子模組</a:t>
            </a:r>
          </a:p>
        </p:txBody>
      </p:sp>
      <p:sp>
        <p:nvSpPr>
          <p:cNvPr id="14" name="h-sub-body">
            <a:extLst xmlns:a="http://schemas.openxmlformats.org/drawingml/2006/main">
              <a:ext uri="{FF2B5EF4-FFF2-40B4-BE49-F238E27FC236}">
                <a16:creationId xmlns:a16="http://schemas.microsoft.com/office/drawing/2014/main" id="{09438C31-1E53-43EE-9FFA-28CE0FF5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377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streamer / memory / QK acc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softmax / stats</a:t>
            </a:r>
          </a:p>
        </p:txBody>
      </p:sp>
      <p:sp>
        <p:nvSpPr>
          <p:cNvPr id="15" name="h-caption">
            <a:extLst xmlns:a="http://schemas.openxmlformats.org/drawingml/2006/main">
              <a:ext uri="{FF2B5EF4-FFF2-40B4-BE49-F238E27FC236}">
                <a16:creationId xmlns:a16="http://schemas.microsoft.com/office/drawing/2014/main" id="{34836850-8549-4E42-A197-A26028D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本次展開範圍</a:t>
            </a:r>
          </a:p>
        </p:txBody>
      </p:sp>
      <p:sp>
        <p:nvSpPr>
          <p:cNvPr id="16" name="h-42-box">
            <a:extLst xmlns:a="http://schemas.openxmlformats.org/drawingml/2006/main">
              <a:ext uri="{FF2B5EF4-FFF2-40B4-BE49-F238E27FC236}">
                <a16:creationId xmlns:a16="http://schemas.microsoft.com/office/drawing/2014/main" id="{401EB9C8-334C-422A-866C-5161BD1A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h-42-title">
            <a:extLst xmlns:a="http://schemas.openxmlformats.org/drawingml/2006/main">
              <a:ext uri="{FF2B5EF4-FFF2-40B4-BE49-F238E27FC236}">
                <a16:creationId xmlns:a16="http://schemas.microsoft.com/office/drawing/2014/main" id="{E1F667ED-7848-4BBC-82F6-ACE4358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qk_pair_streamer</a:t>
            </a:r>
          </a:p>
        </p:txBody>
      </p:sp>
      <p:sp>
        <p:nvSpPr>
          <p:cNvPr id="18" name="h-42-body">
            <a:extLst xmlns:a="http://schemas.openxmlformats.org/drawingml/2006/main">
              <a:ext uri="{FF2B5EF4-FFF2-40B4-BE49-F238E27FC236}">
                <a16:creationId xmlns:a16="http://schemas.microsoft.com/office/drawing/2014/main" id="{DA0B9855-A424-44AC-9C10-A58984A7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稀疏 pair 與 buffer phase</a:t>
            </a:r>
          </a:p>
        </p:txBody>
      </p:sp>
      <p:sp>
        <p:nvSpPr>
          <p:cNvPr id="19" name="h-293-box">
            <a:extLst xmlns:a="http://schemas.openxmlformats.org/drawingml/2006/main">
              <a:ext uri="{FF2B5EF4-FFF2-40B4-BE49-F238E27FC236}">
                <a16:creationId xmlns:a16="http://schemas.microsoft.com/office/drawing/2014/main" id="{7341FF30-3A92-4E0A-BBFA-00599E6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005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20" name="h-293-title">
            <a:extLst xmlns:a="http://schemas.openxmlformats.org/drawingml/2006/main">
              <a:ext uri="{FF2B5EF4-FFF2-40B4-BE49-F238E27FC236}">
                <a16:creationId xmlns:a16="http://schemas.microsoft.com/office/drawing/2014/main" id="{741B0BB6-AEFF-414A-A599-CA35FC05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524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qkv_feature_mem</a:t>
            </a:r>
          </a:p>
        </p:txBody>
      </p:sp>
      <p:sp>
        <p:nvSpPr>
          <p:cNvPr id="21" name="h-293-body">
            <a:extLst xmlns:a="http://schemas.openxmlformats.org/drawingml/2006/main">
              <a:ext uri="{FF2B5EF4-FFF2-40B4-BE49-F238E27FC236}">
                <a16:creationId xmlns:a16="http://schemas.microsoft.com/office/drawing/2014/main" id="{F84E588F-F178-45A6-9D0A-932A5B4B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85775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Q/K/V feature 儲存</a:t>
            </a:r>
          </a:p>
        </p:txBody>
      </p:sp>
      <p:sp>
        <p:nvSpPr>
          <p:cNvPr id="22" name="h-544-box">
            <a:extLst xmlns:a="http://schemas.openxmlformats.org/drawingml/2006/main">
              <a:ext uri="{FF2B5EF4-FFF2-40B4-BE49-F238E27FC236}">
                <a16:creationId xmlns:a16="http://schemas.microsoft.com/office/drawing/2014/main" id="{0459635A-68AC-428D-90A4-578B930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005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h-544-title">
            <a:extLst xmlns:a="http://schemas.openxmlformats.org/drawingml/2006/main">
              <a:ext uri="{FF2B5EF4-FFF2-40B4-BE49-F238E27FC236}">
                <a16:creationId xmlns:a16="http://schemas.microsoft.com/office/drawing/2014/main" id="{39E77E00-72D5-4A07-B4DB-B196C61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qk_dot_accumulator</a:t>
            </a:r>
          </a:p>
        </p:txBody>
      </p:sp>
      <p:sp>
        <p:nvSpPr>
          <p:cNvPr id="24" name="h-544-body">
            <a:extLst xmlns:a="http://schemas.openxmlformats.org/drawingml/2006/main">
              <a:ext uri="{FF2B5EF4-FFF2-40B4-BE49-F238E27FC236}">
                <a16:creationId xmlns:a16="http://schemas.microsoft.com/office/drawing/2014/main" id="{42CA484E-A0FA-49EC-B4B4-D1ED99F6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775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4-lane dot product</a:t>
            </a:r>
          </a:p>
        </p:txBody>
      </p:sp>
      <p:sp>
        <p:nvSpPr>
          <p:cNvPr id="25" name="h-795-box">
            <a:extLst xmlns:a="http://schemas.openxmlformats.org/drawingml/2006/main">
              <a:ext uri="{FF2B5EF4-FFF2-40B4-BE49-F238E27FC236}">
                <a16:creationId xmlns:a16="http://schemas.microsoft.com/office/drawing/2014/main" id="{204F0344-AC81-4350-95B2-DD836C8A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005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h-795-title">
            <a:extLst xmlns:a="http://schemas.openxmlformats.org/drawingml/2006/main">
              <a:ext uri="{FF2B5EF4-FFF2-40B4-BE49-F238E27FC236}">
                <a16:creationId xmlns:a16="http://schemas.microsoft.com/office/drawing/2014/main" id="{065DCF2B-5760-4D32-B379-204E5A2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24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sparse_softmax_sv</a:t>
            </a:r>
          </a:p>
        </p:txBody>
      </p:sp>
      <p:sp>
        <p:nvSpPr>
          <p:cNvPr id="27" name="h-795-body">
            <a:extLst xmlns:a="http://schemas.openxmlformats.org/drawingml/2006/main">
              <a:ext uri="{FF2B5EF4-FFF2-40B4-BE49-F238E27FC236}">
                <a16:creationId xmlns:a16="http://schemas.microsoft.com/office/drawing/2014/main" id="{FF4CF283-EE87-4C6F-B1DF-F3C1B06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5775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online softmax + SV</a:t>
            </a:r>
          </a:p>
        </p:txBody>
      </p:sp>
      <p:sp>
        <p:nvSpPr>
          <p:cNvPr id="28" name="h-1046-box">
            <a:extLst xmlns:a="http://schemas.openxmlformats.org/drawingml/2006/main">
              <a:ext uri="{FF2B5EF4-FFF2-40B4-BE49-F238E27FC236}">
                <a16:creationId xmlns:a16="http://schemas.microsoft.com/office/drawing/2014/main" id="{FA873F68-2CC2-4F35-8EC7-92DC66F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005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29" name="h-1046-title">
            <a:extLst xmlns:a="http://schemas.openxmlformats.org/drawingml/2006/main">
              <a:ext uri="{FF2B5EF4-FFF2-40B4-BE49-F238E27FC236}">
                <a16:creationId xmlns:a16="http://schemas.microsoft.com/office/drawing/2014/main" id="{1210B5D5-F937-47A4-95FC-DD907DC4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243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stats_counter</a:t>
            </a:r>
          </a:p>
        </p:txBody>
      </p:sp>
      <p:sp>
        <p:nvSpPr>
          <p:cNvPr id="30" name="h-1046-body">
            <a:extLst xmlns:a="http://schemas.openxmlformats.org/drawingml/2006/main">
              <a:ext uri="{FF2B5EF4-FFF2-40B4-BE49-F238E27FC236}">
                <a16:creationId xmlns:a16="http://schemas.microsoft.com/office/drawing/2014/main" id="{67379667-2473-4B93-B430-15ADF471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5775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週期與 MAC 計數</a:t>
            </a:r>
          </a:p>
        </p:txBody>
      </p:sp>
      <p:sp>
        <p:nvSpPr>
          <p:cNvPr id="31" name="h-note-box">
            <a:extLst xmlns:a="http://schemas.openxmlformats.org/drawingml/2006/main">
              <a:ext uri="{FF2B5EF4-FFF2-40B4-BE49-F238E27FC236}">
                <a16:creationId xmlns:a16="http://schemas.microsoft.com/office/drawing/2014/main" id="{5AE3306B-879C-4791-BFC3-CC4EB0C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904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2" name="h-note-text">
            <a:extLst xmlns:a="http://schemas.openxmlformats.org/drawingml/2006/main">
              <a:ext uri="{FF2B5EF4-FFF2-40B4-BE49-F238E27FC236}">
                <a16:creationId xmlns:a16="http://schemas.microsoft.com/office/drawing/2014/main" id="{1D411FB1-D88D-4BEF-9B60-2FB6198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870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後續每頁均以內部方塊、暫存器／記憶體與控制路徑呈現，不畫 top-level 接腳。</a:t>
            </a:r>
          </a:p>
        </p:txBody>
      </p:sp>
    </p:spTree>
    <p:extLst>
      <p:ext uri="{BB962C8B-B14F-4D97-AF65-F5344CB8AC3E}">
        <p14:creationId xmlns:p14="http://schemas.microsoft.com/office/powerpoint/2010/main" val="1921115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1986BE87-9A28-414D-8A76-DC0FE390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四個資料路徑子模組依序把 pair 轉成 context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272CD246-7178-40D7-BD8A-A97C82A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C64EA830-B5A9-415A-8759-97C413A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4" name="flow-a1">
            <a:extLst xmlns:a="http://schemas.openxmlformats.org/drawingml/2006/main">
              <a:ext uri="{FF2B5EF4-FFF2-40B4-BE49-F238E27FC236}">
                <a16:creationId xmlns:a16="http://schemas.microsoft.com/office/drawing/2014/main" id="{7F7C223D-B1B5-4F48-8DA9-F67C1AF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flow-a2">
            <a:extLst xmlns:a="http://schemas.openxmlformats.org/drawingml/2006/main">
              <a:ext uri="{FF2B5EF4-FFF2-40B4-BE49-F238E27FC236}">
                <a16:creationId xmlns:a16="http://schemas.microsoft.com/office/drawing/2014/main" id="{9F244316-9DD9-47FA-A65C-86902EE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flow-a3">
            <a:extLst xmlns:a="http://schemas.openxmlformats.org/drawingml/2006/main">
              <a:ext uri="{FF2B5EF4-FFF2-40B4-BE49-F238E27FC236}">
                <a16:creationId xmlns:a16="http://schemas.microsoft.com/office/drawing/2014/main" id="{62E1068A-2AC8-4D00-AAFE-2F676E1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flow-stream-box">
            <a:extLst xmlns:a="http://schemas.openxmlformats.org/drawingml/2006/main">
              <a:ext uri="{FF2B5EF4-FFF2-40B4-BE49-F238E27FC236}">
                <a16:creationId xmlns:a16="http://schemas.microsoft.com/office/drawing/2014/main" id="{F3368BC5-A22B-4B5F-B2B7-ECB0F94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95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flow-stream-title">
            <a:extLst xmlns:a="http://schemas.openxmlformats.org/drawingml/2006/main">
              <a:ext uri="{FF2B5EF4-FFF2-40B4-BE49-F238E27FC236}">
                <a16:creationId xmlns:a16="http://schemas.microsoft.com/office/drawing/2014/main" id="{321D634D-BF02-4EF8-85A0-BCAC5A4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  qk_pair_streamer</a:t>
            </a:r>
          </a:p>
        </p:txBody>
      </p:sp>
      <p:sp>
        <p:nvSpPr>
          <p:cNvPr id="9" name="flow-stream-body">
            <a:extLst xmlns:a="http://schemas.openxmlformats.org/drawingml/2006/main">
              <a:ext uri="{FF2B5EF4-FFF2-40B4-BE49-F238E27FC236}">
                <a16:creationId xmlns:a16="http://schemas.microsoft.com/office/drawing/2014/main" id="{B35F8207-607D-43CC-9120-CF73F7CF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17907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產生 q_idx / k_idx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管理 KV line buffer</a:t>
            </a:r>
          </a:p>
        </p:txBody>
      </p:sp>
      <p:sp>
        <p:nvSpPr>
          <p:cNvPr id="10" name="flow-mem-box">
            <a:extLst xmlns:a="http://schemas.openxmlformats.org/drawingml/2006/main">
              <a:ext uri="{FF2B5EF4-FFF2-40B4-BE49-F238E27FC236}">
                <a16:creationId xmlns:a16="http://schemas.microsoft.com/office/drawing/2014/main" id="{E8F1E8AA-C142-4586-86EB-11CACEE6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885950" cy="1952625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1" name="flow-mem-title">
            <a:extLst xmlns:a="http://schemas.openxmlformats.org/drawingml/2006/main">
              <a:ext uri="{FF2B5EF4-FFF2-40B4-BE49-F238E27FC236}">
                <a16:creationId xmlns:a16="http://schemas.microsoft.com/office/drawing/2014/main" id="{917FB5BC-9376-4975-8AD3-8499EA65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  QKV feature memory</a:t>
            </a:r>
          </a:p>
        </p:txBody>
      </p:sp>
      <p:sp>
        <p:nvSpPr>
          <p:cNvPr id="12" name="flow-mem-body">
            <a:extLst xmlns:a="http://schemas.openxmlformats.org/drawingml/2006/main">
              <a:ext uri="{FF2B5EF4-FFF2-40B4-BE49-F238E27FC236}">
                <a16:creationId xmlns:a16="http://schemas.microsoft.com/office/drawing/2014/main" id="{868DC377-340F-42E4-BC1A-FCC6081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9825"/>
            <a:ext cx="15811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依 index 讀出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Q/K/V 32-bit vector</a:t>
            </a:r>
          </a:p>
        </p:txBody>
      </p:sp>
      <p:sp>
        <p:nvSpPr>
          <p:cNvPr id="13" name="flow-acc-box">
            <a:extLst xmlns:a="http://schemas.openxmlformats.org/drawingml/2006/main">
              <a:ext uri="{FF2B5EF4-FFF2-40B4-BE49-F238E27FC236}">
                <a16:creationId xmlns:a16="http://schemas.microsoft.com/office/drawing/2014/main" id="{C3E7B072-C941-4978-9048-A36A8054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52625"/>
            <a:ext cx="1885950" cy="1952625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flow-acc-title">
            <a:extLst xmlns:a="http://schemas.openxmlformats.org/drawingml/2006/main">
              <a:ext uri="{FF2B5EF4-FFF2-40B4-BE49-F238E27FC236}">
                <a16:creationId xmlns:a16="http://schemas.microsoft.com/office/drawing/2014/main" id="{EA4E6F15-428A-4404-B01D-0E493C8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76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  QK dot accumulator</a:t>
            </a:r>
          </a:p>
        </p:txBody>
      </p:sp>
      <p:sp>
        <p:nvSpPr>
          <p:cNvPr id="15" name="flow-acc-body">
            <a:extLst xmlns:a="http://schemas.openxmlformats.org/drawingml/2006/main">
              <a:ext uri="{FF2B5EF4-FFF2-40B4-BE49-F238E27FC236}">
                <a16:creationId xmlns:a16="http://schemas.microsoft.com/office/drawing/2014/main" id="{98E2F56C-4FB8-47E9-A435-EB38E860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15811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4 路乘法 + 加總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輸出 attention score</a:t>
            </a:r>
          </a:p>
        </p:txBody>
      </p:sp>
      <p:sp>
        <p:nvSpPr>
          <p:cNvPr id="16" name="flow-sm-box">
            <a:extLst xmlns:a="http://schemas.openxmlformats.org/drawingml/2006/main">
              <a:ext uri="{FF2B5EF4-FFF2-40B4-BE49-F238E27FC236}">
                <a16:creationId xmlns:a16="http://schemas.microsoft.com/office/drawing/2014/main" id="{C4AD3682-0711-4595-B0CF-56A714AB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flow-sm-title">
            <a:extLst xmlns:a="http://schemas.openxmlformats.org/drawingml/2006/main">
              <a:ext uri="{FF2B5EF4-FFF2-40B4-BE49-F238E27FC236}">
                <a16:creationId xmlns:a16="http://schemas.microsoft.com/office/drawing/2014/main" id="{CF7E0D10-50DF-4A2F-822F-7E3D01C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4  Sparse softmax / SV</a:t>
            </a:r>
          </a:p>
        </p:txBody>
      </p:sp>
      <p:sp>
        <p:nvSpPr>
          <p:cNvPr id="18" name="flow-sm-body">
            <a:extLst xmlns:a="http://schemas.openxmlformats.org/drawingml/2006/main">
              <a:ext uri="{FF2B5EF4-FFF2-40B4-BE49-F238E27FC236}">
                <a16:creationId xmlns:a16="http://schemas.microsoft.com/office/drawing/2014/main" id="{67F76710-1930-47DB-8F1A-CB3CEF7A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9825"/>
            <a:ext cx="20764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online softmax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加權 V 並輸出 context</a:t>
            </a:r>
          </a:p>
        </p:txBody>
      </p:sp>
      <p:sp>
        <p:nvSpPr>
          <p:cNvPr id="19" name="flow-stat-box">
            <a:extLst xmlns:a="http://schemas.openxmlformats.org/drawingml/2006/main">
              <a:ext uri="{FF2B5EF4-FFF2-40B4-BE49-F238E27FC236}">
                <a16:creationId xmlns:a16="http://schemas.microsoft.com/office/drawing/2014/main" id="{E0370241-1206-4910-8ECE-86821706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15049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20" name="flow-stat-title">
            <a:extLst xmlns:a="http://schemas.openxmlformats.org/drawingml/2006/main">
              <a:ext uri="{FF2B5EF4-FFF2-40B4-BE49-F238E27FC236}">
                <a16:creationId xmlns:a16="http://schemas.microsoft.com/office/drawing/2014/main" id="{F2E021C6-1C7D-482B-BCFB-31C623A5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098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stats_counter</a:t>
            </a:r>
          </a:p>
        </p:txBody>
      </p:sp>
      <p:sp>
        <p:nvSpPr>
          <p:cNvPr id="21" name="flow-stat-body">
            <a:extLst xmlns:a="http://schemas.openxmlformats.org/drawingml/2006/main">
              <a:ext uri="{FF2B5EF4-FFF2-40B4-BE49-F238E27FC236}">
                <a16:creationId xmlns:a16="http://schemas.microsoft.com/office/drawing/2014/main" id="{FD48944A-187D-4503-829E-90DF287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200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旁路記錄 pair / cycle / MAC</a:t>
            </a:r>
          </a:p>
        </p:txBody>
      </p:sp>
      <p:sp>
        <p:nvSpPr>
          <p:cNvPr id="22" name="flow-control">
            <a:extLst xmlns:a="http://schemas.openxmlformats.org/drawingml/2006/main">
              <a:ext uri="{FF2B5EF4-FFF2-40B4-BE49-F238E27FC236}">
                <a16:creationId xmlns:a16="http://schemas.microsoft.com/office/drawing/2014/main" id="{D92E39E6-3C33-4BCA-8286-5CE74AE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704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flow-control-title">
            <a:extLst xmlns:a="http://schemas.openxmlformats.org/drawingml/2006/main">
              <a:ext uri="{FF2B5EF4-FFF2-40B4-BE49-F238E27FC236}">
                <a16:creationId xmlns:a16="http://schemas.microsoft.com/office/drawing/2014/main" id="{1164804D-109B-4B22-89DB-354CB11F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672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Core-owned flow control</a:t>
            </a:r>
          </a:p>
        </p:txBody>
      </p:sp>
      <p:sp>
        <p:nvSpPr>
          <p:cNvPr id="24" name="flow-control-body">
            <a:extLst xmlns:a="http://schemas.openxmlformats.org/drawingml/2006/main">
              <a:ext uri="{FF2B5EF4-FFF2-40B4-BE49-F238E27FC236}">
                <a16:creationId xmlns:a16="http://schemas.microsoft.com/office/drawing/2014/main" id="{6BCE0EB2-E56E-4BBA-800E-9A1B0DD3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19625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pipeline_ready 同時看 score 與 softmax 是否可接收；任一端 backpressure 時，streamer 與 QK pipeline 一起停住。</a:t>
            </a:r>
          </a:p>
        </p:txBody>
      </p:sp>
      <p:sp>
        <p:nvSpPr>
          <p:cNvPr id="25" name="flow-note-box">
            <a:extLst xmlns:a="http://schemas.openxmlformats.org/drawingml/2006/main">
              <a:ext uri="{FF2B5EF4-FFF2-40B4-BE49-F238E27FC236}">
                <a16:creationId xmlns:a16="http://schemas.microsoft.com/office/drawing/2014/main" id="{1E7F5AAA-774A-4064-9776-1E5843B3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601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26" name="flow-note-text">
            <a:extLst xmlns:a="http://schemas.openxmlformats.org/drawingml/2006/main">
              <a:ext uri="{FF2B5EF4-FFF2-40B4-BE49-F238E27FC236}">
                <a16:creationId xmlns:a16="http://schemas.microsoft.com/office/drawing/2014/main" id="{36DD699D-78C9-4EA6-84F4-CF16C19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925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設計重點：把規則生成、儲存、乘加、正規化分開，方便獨立驗證與後續替換。</a:t>
            </a:r>
          </a:p>
        </p:txBody>
      </p:sp>
    </p:spTree>
    <p:extLst>
      <p:ext uri="{BB962C8B-B14F-4D97-AF65-F5344CB8AC3E}">
        <p14:creationId xmlns:p14="http://schemas.microsoft.com/office/powerpoint/2010/main" val="530546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57293E5-8747-41C2-A3A2-911F5FF6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Streamer 以 phase 選擇對應的 KV line-buffer bank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FEB18283-CE99-40AE-AA36-447E8E3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C41078D-9AD6-4427-AEE9-1294ADF0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4" name="st-a1">
            <a:extLst xmlns:a="http://schemas.openxmlformats.org/drawingml/2006/main">
              <a:ext uri="{FF2B5EF4-FFF2-40B4-BE49-F238E27FC236}">
                <a16:creationId xmlns:a16="http://schemas.microsoft.com/office/drawing/2014/main" id="{2B3742E0-C67D-45C3-AC56-C03BA539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t-a2">
            <a:extLst xmlns:a="http://schemas.openxmlformats.org/drawingml/2006/main">
              <a:ext uri="{FF2B5EF4-FFF2-40B4-BE49-F238E27FC236}">
                <a16:creationId xmlns:a16="http://schemas.microsoft.com/office/drawing/2014/main" id="{C3AD5A69-24F2-4CFE-A061-B268F1A9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33600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-d1">
            <a:extLst xmlns:a="http://schemas.openxmlformats.org/drawingml/2006/main">
              <a:ext uri="{FF2B5EF4-FFF2-40B4-BE49-F238E27FC236}">
                <a16:creationId xmlns:a16="http://schemas.microsoft.com/office/drawing/2014/main" id="{1AB4AB82-CFEE-4959-AFC8-A9F39E73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266700" cy="904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-bank-bus">
            <a:extLst xmlns:a="http://schemas.openxmlformats.org/drawingml/2006/main">
              <a:ext uri="{FF2B5EF4-FFF2-40B4-BE49-F238E27FC236}">
                <a16:creationId xmlns:a16="http://schemas.microsoft.com/office/drawing/2014/main" id="{20BE24FE-EFE7-42D2-9638-F3943B1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191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st-ctrl-box">
            <a:extLst xmlns:a="http://schemas.openxmlformats.org/drawingml/2006/main">
              <a:ext uri="{FF2B5EF4-FFF2-40B4-BE49-F238E27FC236}">
                <a16:creationId xmlns:a16="http://schemas.microsoft.com/office/drawing/2014/main" id="{934F050C-38B5-4AD0-9255-BB3C932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047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-ctrl-title">
            <a:extLst xmlns:a="http://schemas.openxmlformats.org/drawingml/2006/main">
              <a:ext uri="{FF2B5EF4-FFF2-40B4-BE49-F238E27FC236}">
                <a16:creationId xmlns:a16="http://schemas.microsoft.com/office/drawing/2014/main" id="{460B6D37-E206-4CEF-86A1-65CD63F6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pattern_controller</a:t>
            </a:r>
          </a:p>
        </p:txBody>
      </p:sp>
      <p:sp>
        <p:nvSpPr>
          <p:cNvPr id="10" name="st-ctrl-body">
            <a:extLst xmlns:a="http://schemas.openxmlformats.org/drawingml/2006/main">
              <a:ext uri="{FF2B5EF4-FFF2-40B4-BE49-F238E27FC236}">
                <a16:creationId xmlns:a16="http://schemas.microsoft.com/office/drawing/2014/main" id="{E6B03235-B8C4-4BA5-8D3F-7C19ACB5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7430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mode / cfg_seq_len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→ q_idx, k_idx, buffer_phase</a:t>
            </a:r>
          </a:p>
        </p:txBody>
      </p:sp>
      <p:sp>
        <p:nvSpPr>
          <p:cNvPr id="11" name="st-select-box">
            <a:extLst xmlns:a="http://schemas.openxmlformats.org/drawingml/2006/main">
              <a:ext uri="{FF2B5EF4-FFF2-40B4-BE49-F238E27FC236}">
                <a16:creationId xmlns:a16="http://schemas.microsoft.com/office/drawing/2014/main" id="{CEACC580-7DCF-4048-98D6-6FDE4B6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19250"/>
            <a:ext cx="233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2" name="st-select-title">
            <a:extLst xmlns:a="http://schemas.openxmlformats.org/drawingml/2006/main">
              <a:ext uri="{FF2B5EF4-FFF2-40B4-BE49-F238E27FC236}">
                <a16:creationId xmlns:a16="http://schemas.microsoft.com/office/drawing/2014/main" id="{BAFE218C-7D78-4148-8361-9A55182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430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Bank select logic</a:t>
            </a:r>
          </a:p>
        </p:txBody>
      </p:sp>
      <p:sp>
        <p:nvSpPr>
          <p:cNvPr id="13" name="st-select-body">
            <a:extLst xmlns:a="http://schemas.openxmlformats.org/drawingml/2006/main">
              <a:ext uri="{FF2B5EF4-FFF2-40B4-BE49-F238E27FC236}">
                <a16:creationId xmlns:a16="http://schemas.microsoft.com/office/drawing/2014/main" id="{E68EC664-53B3-4BF6-AC74-5FF2888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76450"/>
            <a:ext cx="20288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block_select = k_idx % 4</a:t>
            </a:r>
          </a:p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butterfly_select = bit(q_idx XOR k_idx)</a:t>
            </a:r>
          </a:p>
        </p:txBody>
      </p:sp>
      <p:sp>
        <p:nvSpPr>
          <p:cNvPr id="14" name="st-enable-box">
            <a:extLst xmlns:a="http://schemas.openxmlformats.org/drawingml/2006/main">
              <a:ext uri="{FF2B5EF4-FFF2-40B4-BE49-F238E27FC236}">
                <a16:creationId xmlns:a16="http://schemas.microsoft.com/office/drawing/2014/main" id="{1310AB17-52FD-4DD9-B28D-268B9669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381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st-enable-title">
            <a:extLst xmlns:a="http://schemas.openxmlformats.org/drawingml/2006/main">
              <a:ext uri="{FF2B5EF4-FFF2-40B4-BE49-F238E27FC236}">
                <a16:creationId xmlns:a16="http://schemas.microsoft.com/office/drawing/2014/main" id="{1165DE89-68A7-4121-9A73-259A381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43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Phase decoder</a:t>
            </a:r>
          </a:p>
        </p:txBody>
      </p:sp>
      <p:sp>
        <p:nvSpPr>
          <p:cNvPr id="16" name="st-enable-body">
            <a:extLst xmlns:a="http://schemas.openxmlformats.org/drawingml/2006/main">
              <a:ext uri="{FF2B5EF4-FFF2-40B4-BE49-F238E27FC236}">
                <a16:creationId xmlns:a16="http://schemas.microsoft.com/office/drawing/2014/main" id="{A5CE9F2F-A02D-4E53-9A5C-2C3AA900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2076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pair_valid &amp;&amp; advance_ready</a:t>
            </a:r>
          </a:p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只 enable 一種 bank</a:t>
            </a:r>
          </a:p>
        </p:txBody>
      </p:sp>
      <p:sp>
        <p:nvSpPr>
          <p:cNvPr id="17" name="st-bank-title">
            <a:extLst xmlns:a="http://schemas.openxmlformats.org/drawingml/2006/main">
              <a:ext uri="{FF2B5EF4-FFF2-40B4-BE49-F238E27FC236}">
                <a16:creationId xmlns:a16="http://schemas.microsoft.com/office/drawing/2014/main" id="{EBE06B9C-BDE4-4B81-A848-4D9ECB5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KV_LBV2 bank array</a:t>
            </a:r>
          </a:p>
        </p:txBody>
      </p:sp>
      <p:sp>
        <p:nvSpPr>
          <p:cNvPr id="18" name="st-LOCAL">
            <a:extLst xmlns:a="http://schemas.openxmlformats.org/drawingml/2006/main">
              <a:ext uri="{FF2B5EF4-FFF2-40B4-BE49-F238E27FC236}">
                <a16:creationId xmlns:a16="http://schemas.microsoft.com/office/drawing/2014/main" id="{2ACDE126-400E-4E57-99F0-4188C17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st-LOCAL-t">
            <a:extLst xmlns:a="http://schemas.openxmlformats.org/drawingml/2006/main">
              <a:ext uri="{FF2B5EF4-FFF2-40B4-BE49-F238E27FC236}">
                <a16:creationId xmlns:a16="http://schemas.microsoft.com/office/drawing/2014/main" id="{6508052C-BA11-4887-AF4B-3030670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LOCAL</a:t>
            </a:r>
          </a:p>
        </p:txBody>
      </p:sp>
      <p:sp>
        <p:nvSpPr>
          <p:cNvPr id="20" name="st-LOCAL-s">
            <a:extLst xmlns:a="http://schemas.openxmlformats.org/drawingml/2006/main">
              <a:ext uri="{FF2B5EF4-FFF2-40B4-BE49-F238E27FC236}">
                <a16:creationId xmlns:a16="http://schemas.microsoft.com/office/drawing/2014/main" id="{9241FAF5-8BC9-4CF5-ABE2-25FB00B8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block bank ×4</a:t>
            </a:r>
          </a:p>
        </p:txBody>
      </p:sp>
      <p:sp>
        <p:nvSpPr>
          <p:cNvPr id="21" name="st-LOCAL-b">
            <a:extLst xmlns:a="http://schemas.openxmlformats.org/drawingml/2006/main">
              <a:ext uri="{FF2B5EF4-FFF2-40B4-BE49-F238E27FC236}">
                <a16:creationId xmlns:a16="http://schemas.microsoft.com/office/drawing/2014/main" id="{C2D88C13-3B5E-42C3-898B-4AF1AA1E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743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每個 depth=4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以 k_idx mod 4 分流</a:t>
            </a:r>
          </a:p>
        </p:txBody>
      </p:sp>
      <p:sp>
        <p:nvSpPr>
          <p:cNvPr id="22" name="st-COL_GLOBAL">
            <a:extLst xmlns:a="http://schemas.openxmlformats.org/drawingml/2006/main">
              <a:ext uri="{FF2B5EF4-FFF2-40B4-BE49-F238E27FC236}">
                <a16:creationId xmlns:a16="http://schemas.microsoft.com/office/drawing/2014/main" id="{5ADD07A9-E91B-478A-ADFE-C1BBFDAD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62375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23" name="st-COL_GLOBAL-t">
            <a:extLst xmlns:a="http://schemas.openxmlformats.org/drawingml/2006/main">
              <a:ext uri="{FF2B5EF4-FFF2-40B4-BE49-F238E27FC236}">
                <a16:creationId xmlns:a16="http://schemas.microsoft.com/office/drawing/2014/main" id="{0A6B21A7-134C-4C82-B156-D01D5957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0525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COL_GLOBAL</a:t>
            </a:r>
          </a:p>
        </p:txBody>
      </p:sp>
      <p:sp>
        <p:nvSpPr>
          <p:cNvPr id="24" name="st-COL_GLOBAL-s">
            <a:extLst xmlns:a="http://schemas.openxmlformats.org/drawingml/2006/main">
              <a:ext uri="{FF2B5EF4-FFF2-40B4-BE49-F238E27FC236}">
                <a16:creationId xmlns:a16="http://schemas.microsoft.com/office/drawing/2014/main" id="{D9B761CD-108D-40CA-8465-8E50F3DA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57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global bank ×1</a:t>
            </a:r>
          </a:p>
        </p:txBody>
      </p:sp>
      <p:sp>
        <p:nvSpPr>
          <p:cNvPr id="25" name="st-COL_GLOBAL-b">
            <a:extLst xmlns:a="http://schemas.openxmlformats.org/drawingml/2006/main">
              <a:ext uri="{FF2B5EF4-FFF2-40B4-BE49-F238E27FC236}">
                <a16:creationId xmlns:a16="http://schemas.microsoft.com/office/drawing/2014/main" id="{45D78F7E-C04C-4465-AEE9-90D1C7A4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10100"/>
            <a:ext cx="1743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depth=1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固定 global index</a:t>
            </a:r>
          </a:p>
        </p:txBody>
      </p:sp>
      <p:sp>
        <p:nvSpPr>
          <p:cNvPr id="26" name="st-ROW_GLOBAL">
            <a:extLst xmlns:a="http://schemas.openxmlformats.org/drawingml/2006/main">
              <a:ext uri="{FF2B5EF4-FFF2-40B4-BE49-F238E27FC236}">
                <a16:creationId xmlns:a16="http://schemas.microsoft.com/office/drawing/2014/main" id="{DF58CFFB-E30E-4FBA-9BA5-FA5472B7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62375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4F4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st-ROW_GLOBAL-t">
            <a:extLst xmlns:a="http://schemas.openxmlformats.org/drawingml/2006/main">
              <a:ext uri="{FF2B5EF4-FFF2-40B4-BE49-F238E27FC236}">
                <a16:creationId xmlns:a16="http://schemas.microsoft.com/office/drawing/2014/main" id="{8A94DD63-9CA1-4FB8-96BC-4F2068E6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ROW_GLOBAL</a:t>
            </a:r>
          </a:p>
        </p:txBody>
      </p:sp>
      <p:sp>
        <p:nvSpPr>
          <p:cNvPr id="28" name="st-ROW_GLOBAL-s">
            <a:extLst xmlns:a="http://schemas.openxmlformats.org/drawingml/2006/main">
              <a:ext uri="{FF2B5EF4-FFF2-40B4-BE49-F238E27FC236}">
                <a16:creationId xmlns:a16="http://schemas.microsoft.com/office/drawing/2014/main" id="{0E86814D-DD56-481E-8BB0-2AAD7E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57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global-row bank ×4</a:t>
            </a:r>
          </a:p>
        </p:txBody>
      </p:sp>
      <p:sp>
        <p:nvSpPr>
          <p:cNvPr id="29" name="st-ROW_GLOBAL-b">
            <a:extLst xmlns:a="http://schemas.openxmlformats.org/drawingml/2006/main">
              <a:ext uri="{FF2B5EF4-FFF2-40B4-BE49-F238E27FC236}">
                <a16:creationId xmlns:a16="http://schemas.microsoft.com/office/drawing/2014/main" id="{ED82F637-9C9F-4686-87DD-A9DF4BA5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1743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每個 depth=4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同樣以 block_select 分流</a:t>
            </a:r>
          </a:p>
        </p:txBody>
      </p:sp>
      <p:sp>
        <p:nvSpPr>
          <p:cNvPr id="30" name="st-BUTTERFLY">
            <a:extLst xmlns:a="http://schemas.openxmlformats.org/drawingml/2006/main">
              <a:ext uri="{FF2B5EF4-FFF2-40B4-BE49-F238E27FC236}">
                <a16:creationId xmlns:a16="http://schemas.microsoft.com/office/drawing/2014/main" id="{E16662D9-4D9B-4B08-85F9-DE757D2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62375"/>
            <a:ext cx="2047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st-BUTTERFLY-t">
            <a:extLst xmlns:a="http://schemas.openxmlformats.org/drawingml/2006/main">
              <a:ext uri="{FF2B5EF4-FFF2-40B4-BE49-F238E27FC236}">
                <a16:creationId xmlns:a16="http://schemas.microsoft.com/office/drawing/2014/main" id="{DDED6174-9E9B-4414-B820-7F64F21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BUTTERFLY</a:t>
            </a:r>
          </a:p>
        </p:txBody>
      </p:sp>
      <p:sp>
        <p:nvSpPr>
          <p:cNvPr id="32" name="st-BUTTERFLY-s">
            <a:extLst xmlns:a="http://schemas.openxmlformats.org/drawingml/2006/main">
              <a:ext uri="{FF2B5EF4-FFF2-40B4-BE49-F238E27FC236}">
                <a16:creationId xmlns:a16="http://schemas.microsoft.com/office/drawing/2014/main" id="{59A21E04-9AAB-4EC8-BAE4-89B2AC40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57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butterfly bank ×8</a:t>
            </a:r>
          </a:p>
        </p:txBody>
      </p:sp>
      <p:sp>
        <p:nvSpPr>
          <p:cNvPr id="33" name="st-BUTTERFLY-b">
            <a:extLst xmlns:a="http://schemas.openxmlformats.org/drawingml/2006/main">
              <a:ext uri="{FF2B5EF4-FFF2-40B4-BE49-F238E27FC236}">
                <a16:creationId xmlns:a16="http://schemas.microsoft.com/office/drawing/2014/main" id="{08DB69A4-89C6-451E-99EF-3266C91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10100"/>
            <a:ext cx="1743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每個 depth=4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依 XOR stride 的 bit stage</a:t>
            </a:r>
          </a:p>
        </p:txBody>
      </p:sp>
      <p:sp>
        <p:nvSpPr>
          <p:cNvPr id="34" name="st-mux-box">
            <a:extLst xmlns:a="http://schemas.openxmlformats.org/drawingml/2006/main">
              <a:ext uri="{FF2B5EF4-FFF2-40B4-BE49-F238E27FC236}">
                <a16:creationId xmlns:a16="http://schemas.microsoft.com/office/drawing/2014/main" id="{876E36F0-180E-4E13-AA5B-2FB92D8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62375"/>
            <a:ext cx="19335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st-mux-title">
            <a:extLst xmlns:a="http://schemas.openxmlformats.org/drawingml/2006/main">
              <a:ext uri="{FF2B5EF4-FFF2-40B4-BE49-F238E27FC236}">
                <a16:creationId xmlns:a16="http://schemas.microsoft.com/office/drawing/2014/main" id="{4441D6AD-DBB6-4229-A118-AC95E971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86200"/>
            <a:ext cx="1628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Selected bank MUX</a:t>
            </a:r>
          </a:p>
        </p:txBody>
      </p:sp>
      <p:sp>
        <p:nvSpPr>
          <p:cNvPr id="36" name="st-mux-body">
            <a:extLst xmlns:a="http://schemas.openxmlformats.org/drawingml/2006/main">
              <a:ext uri="{FF2B5EF4-FFF2-40B4-BE49-F238E27FC236}">
                <a16:creationId xmlns:a16="http://schemas.microsoft.com/office/drawing/2014/main" id="{16A0162F-AFD6-4B0C-86CD-72B7D63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219575"/>
            <a:ext cx="16287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依 phase + select 取回 full / dout</a:t>
            </a:r>
          </a:p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→ buffer_load / evict_valid / buffer_dout</a:t>
            </a:r>
          </a:p>
        </p:txBody>
      </p:sp>
      <p:sp>
        <p:nvSpPr>
          <p:cNvPr id="37" name="st-total-box">
            <a:extLst xmlns:a="http://schemas.openxmlformats.org/drawingml/2006/main">
              <a:ext uri="{FF2B5EF4-FFF2-40B4-BE49-F238E27FC236}">
                <a16:creationId xmlns:a16="http://schemas.microsoft.com/office/drawing/2014/main" id="{A0E32B3E-735E-4FB7-AED7-0A2E586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962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38" name="st-total-text">
            <a:extLst xmlns:a="http://schemas.openxmlformats.org/drawingml/2006/main">
              <a:ext uri="{FF2B5EF4-FFF2-40B4-BE49-F238E27FC236}">
                <a16:creationId xmlns:a16="http://schemas.microsoft.com/office/drawing/2014/main" id="{6F1D9DEC-6533-44D2-B569-356F6BE0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927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預設 WINDOW_SIZE=4、IDX_WIDTH=8，因此共 4 + 1 + 4 + 8 = 17 個 KV_LBV2 instance。</a:t>
            </a:r>
          </a:p>
        </p:txBody>
      </p:sp>
    </p:spTree>
    <p:extLst>
      <p:ext uri="{BB962C8B-B14F-4D97-AF65-F5344CB8AC3E}">
        <p14:creationId xmlns:p14="http://schemas.microsoft.com/office/powerpoint/2010/main" val="1620108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7970D181-B493-41A2-B2EE-DA87AE0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QKV memory 用共用位址產生器寫入，三組記憶體平行讀出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FEA15B87-D2E1-4DB5-A621-7722CB1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FEE7679-9BE8-45AF-9937-84C3D192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4" name="m-a1">
            <a:extLst xmlns:a="http://schemas.openxmlformats.org/drawingml/2006/main">
              <a:ext uri="{FF2B5EF4-FFF2-40B4-BE49-F238E27FC236}">
                <a16:creationId xmlns:a16="http://schemas.microsoft.com/office/drawing/2014/main" id="{77A209EC-9737-4E69-88C4-00607899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02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m-a2">
            <a:extLst xmlns:a="http://schemas.openxmlformats.org/drawingml/2006/main">
              <a:ext uri="{FF2B5EF4-FFF2-40B4-BE49-F238E27FC236}">
                <a16:creationId xmlns:a16="http://schemas.microsoft.com/office/drawing/2014/main" id="{8702A4F6-A4A2-4B57-8FA5-32B1EA4C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02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m-write-bus">
            <a:extLst xmlns:a="http://schemas.openxmlformats.org/drawingml/2006/main">
              <a:ext uri="{FF2B5EF4-FFF2-40B4-BE49-F238E27FC236}">
                <a16:creationId xmlns:a16="http://schemas.microsoft.com/office/drawing/2014/main" id="{752EF5FC-26A3-4642-853B-972BB26E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468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m-dq">
            <a:extLst xmlns:a="http://schemas.openxmlformats.org/drawingml/2006/main">
              <a:ext uri="{FF2B5EF4-FFF2-40B4-BE49-F238E27FC236}">
                <a16:creationId xmlns:a16="http://schemas.microsoft.com/office/drawing/2014/main" id="{5FCCC3B6-565C-4052-8B57-D83CCA8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667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m-dk">
            <a:extLst xmlns:a="http://schemas.openxmlformats.org/drawingml/2006/main">
              <a:ext uri="{FF2B5EF4-FFF2-40B4-BE49-F238E27FC236}">
                <a16:creationId xmlns:a16="http://schemas.microsoft.com/office/drawing/2014/main" id="{2D9FD204-226F-4F23-8AD1-D5944C8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266700" cy="2190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m-dv">
            <a:extLst xmlns:a="http://schemas.openxmlformats.org/drawingml/2006/main">
              <a:ext uri="{FF2B5EF4-FFF2-40B4-BE49-F238E27FC236}">
                <a16:creationId xmlns:a16="http://schemas.microsoft.com/office/drawing/2014/main" id="{E3FF72D7-2C5B-4D0A-A882-1320111D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71800"/>
            <a:ext cx="266700" cy="2190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m-r1">
            <a:extLst xmlns:a="http://schemas.openxmlformats.org/drawingml/2006/main">
              <a:ext uri="{FF2B5EF4-FFF2-40B4-BE49-F238E27FC236}">
                <a16:creationId xmlns:a16="http://schemas.microsoft.com/office/drawing/2014/main" id="{5E8C7C72-762C-4DB6-B7D6-C9D19A6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m-r2">
            <a:extLst xmlns:a="http://schemas.openxmlformats.org/drawingml/2006/main">
              <a:ext uri="{FF2B5EF4-FFF2-40B4-BE49-F238E27FC236}">
                <a16:creationId xmlns:a16="http://schemas.microsoft.com/office/drawing/2014/main" id="{32446BD8-5DAD-4772-A6B8-8D15002C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m-write-title">
            <a:extLst xmlns:a="http://schemas.openxmlformats.org/drawingml/2006/main">
              <a:ext uri="{FF2B5EF4-FFF2-40B4-BE49-F238E27FC236}">
                <a16:creationId xmlns:a16="http://schemas.microsoft.com/office/drawing/2014/main" id="{2DDBE552-CCEE-443A-B75D-1A7DB4DF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Write path</a:t>
            </a:r>
          </a:p>
        </p:txBody>
      </p:sp>
      <p:sp>
        <p:nvSpPr>
          <p:cNvPr id="13" name="m-input-box">
            <a:extLst xmlns:a="http://schemas.openxmlformats.org/drawingml/2006/main">
              <a:ext uri="{FF2B5EF4-FFF2-40B4-BE49-F238E27FC236}">
                <a16:creationId xmlns:a16="http://schemas.microsoft.com/office/drawing/2014/main" id="{CFFF5AFA-8D2A-4037-83B8-9293866D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809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4" name="m-input-title">
            <a:extLst xmlns:a="http://schemas.openxmlformats.org/drawingml/2006/main">
              <a:ext uri="{FF2B5EF4-FFF2-40B4-BE49-F238E27FC236}">
                <a16:creationId xmlns:a16="http://schemas.microsoft.com/office/drawing/2014/main" id="{A8F3E3D1-4B5F-4AD9-8F2A-A7328937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Write request</a:t>
            </a:r>
          </a:p>
        </p:txBody>
      </p:sp>
      <p:sp>
        <p:nvSpPr>
          <p:cNvPr id="15" name="m-input-body">
            <a:extLst xmlns:a="http://schemas.openxmlformats.org/drawingml/2006/main">
              <a:ext uri="{FF2B5EF4-FFF2-40B4-BE49-F238E27FC236}">
                <a16:creationId xmlns:a16="http://schemas.microsoft.com/office/drawing/2014/main" id="{398769B0-DF31-4ECF-B92B-A1F75F6D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1504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token_idx / feature_idx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qkv_sel / data[7:0]</a:t>
            </a:r>
          </a:p>
        </p:txBody>
      </p:sp>
      <p:sp>
        <p:nvSpPr>
          <p:cNvPr id="16" name="m-addr-box">
            <a:extLst xmlns:a="http://schemas.openxmlformats.org/drawingml/2006/main">
              <a:ext uri="{FF2B5EF4-FFF2-40B4-BE49-F238E27FC236}">
                <a16:creationId xmlns:a16="http://schemas.microsoft.com/office/drawing/2014/main" id="{96B90EEA-2580-46B6-BCA6-0F0BADD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m-addr-title">
            <a:extLst xmlns:a="http://schemas.openxmlformats.org/drawingml/2006/main">
              <a:ext uri="{FF2B5EF4-FFF2-40B4-BE49-F238E27FC236}">
                <a16:creationId xmlns:a16="http://schemas.microsoft.com/office/drawing/2014/main" id="{B327936C-AEE6-4F6A-83FB-7707B2BA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859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Address + range check</a:t>
            </a:r>
          </a:p>
        </p:txBody>
      </p:sp>
      <p:sp>
        <p:nvSpPr>
          <p:cNvPr id="18" name="m-addr-body">
            <a:extLst xmlns:a="http://schemas.openxmlformats.org/drawingml/2006/main">
              <a:ext uri="{FF2B5EF4-FFF2-40B4-BE49-F238E27FC236}">
                <a16:creationId xmlns:a16="http://schemas.microsoft.com/office/drawing/2014/main" id="{C03D708E-118A-4644-A373-2C7F60C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19325"/>
            <a:ext cx="1600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addr = token × 4 + feature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token&lt;128 &amp;&amp; feature&lt;4</a:t>
            </a:r>
          </a:p>
        </p:txBody>
      </p:sp>
      <p:sp>
        <p:nvSpPr>
          <p:cNvPr id="19" name="m-dec-box">
            <a:extLst xmlns:a="http://schemas.openxmlformats.org/drawingml/2006/main">
              <a:ext uri="{FF2B5EF4-FFF2-40B4-BE49-F238E27FC236}">
                <a16:creationId xmlns:a16="http://schemas.microsoft.com/office/drawing/2014/main" id="{0E10D1E6-8981-4EE1-AF7C-3207FD50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m-dec-title">
            <a:extLst xmlns:a="http://schemas.openxmlformats.org/drawingml/2006/main">
              <a:ext uri="{FF2B5EF4-FFF2-40B4-BE49-F238E27FC236}">
                <a16:creationId xmlns:a16="http://schemas.microsoft.com/office/drawing/2014/main" id="{BCCB2930-071A-464D-8BC0-3EFB7A9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Q/K/V write decoder</a:t>
            </a:r>
          </a:p>
        </p:txBody>
      </p:sp>
      <p:sp>
        <p:nvSpPr>
          <p:cNvPr id="21" name="m-dec-body">
            <a:extLst xmlns:a="http://schemas.openxmlformats.org/drawingml/2006/main">
              <a:ext uri="{FF2B5EF4-FFF2-40B4-BE49-F238E27FC236}">
                <a16:creationId xmlns:a16="http://schemas.microsoft.com/office/drawing/2014/main" id="{5C453D80-9CD6-4BE2-A83D-174EC168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19325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qkv_sel=0 / 1 / 2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只更新選中的 memory</a:t>
            </a:r>
          </a:p>
        </p:txBody>
      </p:sp>
      <p:sp>
        <p:nvSpPr>
          <p:cNvPr id="22" name="m-q_mem[0:511]-box">
            <a:extLst xmlns:a="http://schemas.openxmlformats.org/drawingml/2006/main">
              <a:ext uri="{FF2B5EF4-FFF2-40B4-BE49-F238E27FC236}">
                <a16:creationId xmlns:a16="http://schemas.microsoft.com/office/drawing/2014/main" id="{714E42E0-935B-4182-8EAD-EA21CB8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1409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m-q_mem[0:511]-title">
            <a:extLst xmlns:a="http://schemas.openxmlformats.org/drawingml/2006/main">
              <a:ext uri="{FF2B5EF4-FFF2-40B4-BE49-F238E27FC236}">
                <a16:creationId xmlns:a16="http://schemas.microsoft.com/office/drawing/2014/main" id="{DC51CEC3-F441-4E3C-9DDC-B601FC15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147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Q memory</a:t>
            </a:r>
          </a:p>
        </p:txBody>
      </p:sp>
      <p:sp>
        <p:nvSpPr>
          <p:cNvPr id="24" name="m-q_mem[0:511]-body">
            <a:extLst xmlns:a="http://schemas.openxmlformats.org/drawingml/2006/main">
              <a:ext uri="{FF2B5EF4-FFF2-40B4-BE49-F238E27FC236}">
                <a16:creationId xmlns:a16="http://schemas.microsoft.com/office/drawing/2014/main" id="{A4291CB1-9622-4449-93C7-5A6DC69F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480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q_mem  512 × 8</a:t>
            </a:r>
          </a:p>
        </p:txBody>
      </p:sp>
      <p:sp>
        <p:nvSpPr>
          <p:cNvPr id="25" name="m-k_mem[0:511]-box">
            <a:extLst xmlns:a="http://schemas.openxmlformats.org/drawingml/2006/main">
              <a:ext uri="{FF2B5EF4-FFF2-40B4-BE49-F238E27FC236}">
                <a16:creationId xmlns:a16="http://schemas.microsoft.com/office/drawing/2014/main" id="{28A5BF8C-1BAE-4F48-AB56-49F11F07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1409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4F4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m-k_mem[0:511]-title">
            <a:extLst xmlns:a="http://schemas.openxmlformats.org/drawingml/2006/main">
              <a:ext uri="{FF2B5EF4-FFF2-40B4-BE49-F238E27FC236}">
                <a16:creationId xmlns:a16="http://schemas.microsoft.com/office/drawing/2014/main" id="{7ECDBD15-823C-4E7A-AF6D-A99F702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 memory</a:t>
            </a:r>
          </a:p>
        </p:txBody>
      </p:sp>
      <p:sp>
        <p:nvSpPr>
          <p:cNvPr id="27" name="m-k_mem[0:511]-body">
            <a:extLst xmlns:a="http://schemas.openxmlformats.org/drawingml/2006/main">
              <a:ext uri="{FF2B5EF4-FFF2-40B4-BE49-F238E27FC236}">
                <a16:creationId xmlns:a16="http://schemas.microsoft.com/office/drawing/2014/main" id="{4196D970-4410-4640-8DAE-65AA9C1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480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k_mem  512 × 8</a:t>
            </a:r>
          </a:p>
        </p:txBody>
      </p:sp>
      <p:sp>
        <p:nvSpPr>
          <p:cNvPr id="28" name="m-v_mem[0:511]-box">
            <a:extLst xmlns:a="http://schemas.openxmlformats.org/drawingml/2006/main">
              <a:ext uri="{FF2B5EF4-FFF2-40B4-BE49-F238E27FC236}">
                <a16:creationId xmlns:a16="http://schemas.microsoft.com/office/drawing/2014/main" id="{66F3BF53-E671-43F4-A014-D984BBBB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90875"/>
            <a:ext cx="1409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m-v_mem[0:511]-title">
            <a:extLst xmlns:a="http://schemas.openxmlformats.org/drawingml/2006/main">
              <a:ext uri="{FF2B5EF4-FFF2-40B4-BE49-F238E27FC236}">
                <a16:creationId xmlns:a16="http://schemas.microsoft.com/office/drawing/2014/main" id="{6750B2A0-9A78-429E-8DE5-A5759EB2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147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 memory</a:t>
            </a:r>
          </a:p>
        </p:txBody>
      </p:sp>
      <p:sp>
        <p:nvSpPr>
          <p:cNvPr id="30" name="m-v_mem[0:511]-body">
            <a:extLst xmlns:a="http://schemas.openxmlformats.org/drawingml/2006/main">
              <a:ext uri="{FF2B5EF4-FFF2-40B4-BE49-F238E27FC236}">
                <a16:creationId xmlns:a16="http://schemas.microsoft.com/office/drawing/2014/main" id="{DA0FC693-090D-4EFD-BC6F-5B8C390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6480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v_mem  512 × 8</a:t>
            </a:r>
          </a:p>
        </p:txBody>
      </p:sp>
      <p:sp>
        <p:nvSpPr>
          <p:cNvPr id="31" name="m-read-title">
            <a:extLst xmlns:a="http://schemas.openxmlformats.org/drawingml/2006/main">
              <a:ext uri="{FF2B5EF4-FFF2-40B4-BE49-F238E27FC236}">
                <a16:creationId xmlns:a16="http://schemas.microsoft.com/office/drawing/2014/main" id="{12AC93B7-3B91-4DD8-90E1-39AA7EE8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Read path（Q、K、V 各自獨立，以下方塊各複製一份）</a:t>
            </a:r>
          </a:p>
        </p:txBody>
      </p:sp>
      <p:sp>
        <p:nvSpPr>
          <p:cNvPr id="32" name="m-ridx-box">
            <a:extLst xmlns:a="http://schemas.openxmlformats.org/drawingml/2006/main">
              <a:ext uri="{FF2B5EF4-FFF2-40B4-BE49-F238E27FC236}">
                <a16:creationId xmlns:a16="http://schemas.microsoft.com/office/drawing/2014/main" id="{1F7B1DC2-E06C-4E34-9D5E-94A5BC9E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33" name="m-ridx-title">
            <a:extLst xmlns:a="http://schemas.openxmlformats.org/drawingml/2006/main">
              <a:ext uri="{FF2B5EF4-FFF2-40B4-BE49-F238E27FC236}">
                <a16:creationId xmlns:a16="http://schemas.microsoft.com/office/drawing/2014/main" id="{38E6E7A0-1571-4FF7-9C11-4B70256B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read_idx</a:t>
            </a:r>
          </a:p>
        </p:txBody>
      </p:sp>
      <p:sp>
        <p:nvSpPr>
          <p:cNvPr id="34" name="m-ridx-body">
            <a:extLst xmlns:a="http://schemas.openxmlformats.org/drawingml/2006/main">
              <a:ext uri="{FF2B5EF4-FFF2-40B4-BE49-F238E27FC236}">
                <a16:creationId xmlns:a16="http://schemas.microsoft.com/office/drawing/2014/main" id="{D546CB58-EB03-44CD-9B3B-6411B255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164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q / k / v token index</a:t>
            </a:r>
          </a:p>
        </p:txBody>
      </p:sp>
      <p:sp>
        <p:nvSpPr>
          <p:cNvPr id="35" name="m-rbase-box">
            <a:extLst xmlns:a="http://schemas.openxmlformats.org/drawingml/2006/main">
              <a:ext uri="{FF2B5EF4-FFF2-40B4-BE49-F238E27FC236}">
                <a16:creationId xmlns:a16="http://schemas.microsoft.com/office/drawing/2014/main" id="{185B944B-0C69-4712-B3C6-45A13ADF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38625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m-rbase-title">
            <a:extLst xmlns:a="http://schemas.openxmlformats.org/drawingml/2006/main">
              <a:ext uri="{FF2B5EF4-FFF2-40B4-BE49-F238E27FC236}">
                <a16:creationId xmlns:a16="http://schemas.microsoft.com/office/drawing/2014/main" id="{5AD04275-C877-4CDB-B8FC-DF209291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624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Base address</a:t>
            </a:r>
          </a:p>
        </p:txBody>
      </p:sp>
      <p:sp>
        <p:nvSpPr>
          <p:cNvPr id="37" name="m-rbase-body">
            <a:extLst xmlns:a="http://schemas.openxmlformats.org/drawingml/2006/main">
              <a:ext uri="{FF2B5EF4-FFF2-40B4-BE49-F238E27FC236}">
                <a16:creationId xmlns:a16="http://schemas.microsoft.com/office/drawing/2014/main" id="{A7F75261-BE03-4C2F-93B9-E6EE12E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1695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read_idx × FEATURE_DIM</a:t>
            </a:r>
          </a:p>
        </p:txBody>
      </p:sp>
      <p:sp>
        <p:nvSpPr>
          <p:cNvPr id="38" name="m-rparallel-box">
            <a:extLst xmlns:a="http://schemas.openxmlformats.org/drawingml/2006/main">
              <a:ext uri="{FF2B5EF4-FFF2-40B4-BE49-F238E27FC236}">
                <a16:creationId xmlns:a16="http://schemas.microsoft.com/office/drawing/2014/main" id="{38FBFFED-CD71-488C-859D-D4393109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38625"/>
            <a:ext cx="2238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9" name="m-rparallel-title">
            <a:extLst xmlns:a="http://schemas.openxmlformats.org/drawingml/2006/main">
              <a:ext uri="{FF2B5EF4-FFF2-40B4-BE49-F238E27FC236}">
                <a16:creationId xmlns:a16="http://schemas.microsoft.com/office/drawing/2014/main" id="{347A597A-123B-455C-84FD-FC5A5E1C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36245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4 parallel byte reads</a:t>
            </a:r>
          </a:p>
        </p:txBody>
      </p:sp>
      <p:sp>
        <p:nvSpPr>
          <p:cNvPr id="40" name="m-rparallel-body">
            <a:extLst xmlns:a="http://schemas.openxmlformats.org/drawingml/2006/main">
              <a:ext uri="{FF2B5EF4-FFF2-40B4-BE49-F238E27FC236}">
                <a16:creationId xmlns:a16="http://schemas.microsoft.com/office/drawing/2014/main" id="{3C564FC0-0825-4C1B-9043-4B6DFF6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695825"/>
            <a:ext cx="1933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mem[base+0 ... base+3]</a:t>
            </a:r>
          </a:p>
        </p:txBody>
      </p:sp>
      <p:sp>
        <p:nvSpPr>
          <p:cNvPr id="41" name="m-rpack-box">
            <a:extLst xmlns:a="http://schemas.openxmlformats.org/drawingml/2006/main">
              <a:ext uri="{FF2B5EF4-FFF2-40B4-BE49-F238E27FC236}">
                <a16:creationId xmlns:a16="http://schemas.microsoft.com/office/drawing/2014/main" id="{0ECD034D-ABC8-498C-B592-4A55084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35528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42" name="m-rpack-title">
            <a:extLst xmlns:a="http://schemas.openxmlformats.org/drawingml/2006/main">
              <a:ext uri="{FF2B5EF4-FFF2-40B4-BE49-F238E27FC236}">
                <a16:creationId xmlns:a16="http://schemas.microsoft.com/office/drawing/2014/main" id="{7AF63F13-B3B4-4B74-BEB9-7E034939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62450"/>
            <a:ext cx="3248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Vector pack</a:t>
            </a:r>
          </a:p>
        </p:txBody>
      </p:sp>
      <p:sp>
        <p:nvSpPr>
          <p:cNvPr id="43" name="m-rpack-body">
            <a:extLst xmlns:a="http://schemas.openxmlformats.org/drawingml/2006/main">
              <a:ext uri="{FF2B5EF4-FFF2-40B4-BE49-F238E27FC236}">
                <a16:creationId xmlns:a16="http://schemas.microsoft.com/office/drawing/2014/main" id="{E5080B34-D689-441C-8529-0379AD7C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695825"/>
            <a:ext cx="3248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4 × 8 bit → 32-bit feature vector</a:t>
            </a:r>
          </a:p>
        </p:txBody>
      </p:sp>
      <p:sp>
        <p:nvSpPr>
          <p:cNvPr id="44" name="m-size-box">
            <a:extLst xmlns:a="http://schemas.openxmlformats.org/drawingml/2006/main">
              <a:ext uri="{FF2B5EF4-FFF2-40B4-BE49-F238E27FC236}">
                <a16:creationId xmlns:a16="http://schemas.microsoft.com/office/drawing/2014/main" id="{34848A93-D82A-4C7A-B1DF-3136BA45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66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45" name="m-size-text">
            <a:extLst xmlns:a="http://schemas.openxmlformats.org/drawingml/2006/main">
              <a:ext uri="{FF2B5EF4-FFF2-40B4-BE49-F238E27FC236}">
                <a16:creationId xmlns:a16="http://schemas.microsoft.com/office/drawing/2014/main" id="{EB6806B0-328F-4B7A-A59E-13C0512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容量：每組 128 × 4 × 8 = 4,096 bit；Q+K+V 合計 12,288 bit（約 1.5 KiB）。目前 RTL 為組合讀出。</a:t>
            </a:r>
          </a:p>
        </p:txBody>
      </p:sp>
    </p:spTree>
    <p:extLst>
      <p:ext uri="{BB962C8B-B14F-4D97-AF65-F5344CB8AC3E}">
        <p14:creationId xmlns:p14="http://schemas.microsoft.com/office/powerpoint/2010/main" val="1535894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0EEBDB76-7803-4E70-B0BA-0E910D9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三段 pipeline 以 4-lane 乘加完成 QK dot product</a:t>
            </a:r>
          </a:p>
        </p:txBody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758FB256-857B-4070-A96B-82DF7D63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3D15C60-1555-43A2-8A96-C4936848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4" name="q-a1">
            <a:extLst xmlns:a="http://schemas.openxmlformats.org/drawingml/2006/main">
              <a:ext uri="{FF2B5EF4-FFF2-40B4-BE49-F238E27FC236}">
                <a16:creationId xmlns:a16="http://schemas.microsoft.com/office/drawing/2014/main" id="{5BE31679-D66F-4A43-9C70-515CEEA4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q-a2">
            <a:extLst xmlns:a="http://schemas.openxmlformats.org/drawingml/2006/main">
              <a:ext uri="{FF2B5EF4-FFF2-40B4-BE49-F238E27FC236}">
                <a16:creationId xmlns:a16="http://schemas.microsoft.com/office/drawing/2014/main" id="{33F58B1D-F3BB-4339-A3B2-596ACB4D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q-a3">
            <a:extLst xmlns:a="http://schemas.openxmlformats.org/drawingml/2006/main">
              <a:ext uri="{FF2B5EF4-FFF2-40B4-BE49-F238E27FC236}">
                <a16:creationId xmlns:a16="http://schemas.microsoft.com/office/drawing/2014/main" id="{CA213C7E-C794-4029-8CFC-C5C8DFE3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q-d1">
            <a:extLst xmlns:a="http://schemas.openxmlformats.org/drawingml/2006/main">
              <a:ext uri="{FF2B5EF4-FFF2-40B4-BE49-F238E27FC236}">
                <a16:creationId xmlns:a16="http://schemas.microsoft.com/office/drawing/2014/main" id="{E2A9EE01-47FF-470B-A265-B81D549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476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q-d2">
            <a:extLst xmlns:a="http://schemas.openxmlformats.org/drawingml/2006/main">
              <a:ext uri="{FF2B5EF4-FFF2-40B4-BE49-F238E27FC236}">
                <a16:creationId xmlns:a16="http://schemas.microsoft.com/office/drawing/2014/main" id="{F725F955-2C63-4747-9378-17E0EB0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2476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q-c0">
            <a:extLst xmlns:a="http://schemas.openxmlformats.org/drawingml/2006/main">
              <a:ext uri="{FF2B5EF4-FFF2-40B4-BE49-F238E27FC236}">
                <a16:creationId xmlns:a16="http://schemas.microsoft.com/office/drawing/2014/main" id="{E4B3D10E-EEDA-4BBC-BE0E-318BA21F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Cycle N</a:t>
            </a:r>
          </a:p>
        </p:txBody>
      </p:sp>
      <p:sp>
        <p:nvSpPr>
          <p:cNvPr id="10" name="q-s0-box">
            <a:extLst xmlns:a="http://schemas.openxmlformats.org/drawingml/2006/main">
              <a:ext uri="{FF2B5EF4-FFF2-40B4-BE49-F238E27FC236}">
                <a16:creationId xmlns:a16="http://schemas.microsoft.com/office/drawing/2014/main" id="{9CB855F0-A694-4B05-BA0A-F097922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19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1" name="q-s0-title">
            <a:extLst xmlns:a="http://schemas.openxmlformats.org/drawingml/2006/main">
              <a:ext uri="{FF2B5EF4-FFF2-40B4-BE49-F238E27FC236}">
                <a16:creationId xmlns:a16="http://schemas.microsoft.com/office/drawing/2014/main" id="{FBA7754E-121F-4997-BFB2-DB67D5E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Stage 0 registers</a:t>
            </a:r>
          </a:p>
        </p:txBody>
      </p:sp>
      <p:sp>
        <p:nvSpPr>
          <p:cNvPr id="12" name="q-s0-body">
            <a:extLst xmlns:a="http://schemas.openxmlformats.org/drawingml/2006/main">
              <a:ext uri="{FF2B5EF4-FFF2-40B4-BE49-F238E27FC236}">
                <a16:creationId xmlns:a16="http://schemas.microsoft.com/office/drawing/2014/main" id="{4C4626A8-E9C2-47F8-8D62-C7B2B53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3145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pair_valid + q_idx / k_idx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Q vector[31:0] + K vector[31:0]</a:t>
            </a:r>
          </a:p>
        </p:txBody>
      </p:sp>
      <p:sp>
        <p:nvSpPr>
          <p:cNvPr id="13" name="q-c1">
            <a:extLst xmlns:a="http://schemas.openxmlformats.org/drawingml/2006/main">
              <a:ext uri="{FF2B5EF4-FFF2-40B4-BE49-F238E27FC236}">
                <a16:creationId xmlns:a16="http://schemas.microsoft.com/office/drawing/2014/main" id="{F5290FA7-8C80-4F53-AEF9-FD9F2E43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04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Cycle N+1</a:t>
            </a:r>
          </a:p>
        </p:txBody>
      </p:sp>
      <p:sp>
        <p:nvSpPr>
          <p:cNvPr id="14" name="q-mul-box">
            <a:extLst xmlns:a="http://schemas.openxmlformats.org/drawingml/2006/main">
              <a:ext uri="{FF2B5EF4-FFF2-40B4-BE49-F238E27FC236}">
                <a16:creationId xmlns:a16="http://schemas.microsoft.com/office/drawing/2014/main" id="{3A60C2D9-F508-46B4-809B-627ADD1F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q-mul-title">
            <a:extLst xmlns:a="http://schemas.openxmlformats.org/drawingml/2006/main">
              <a:ext uri="{FF2B5EF4-FFF2-40B4-BE49-F238E27FC236}">
                <a16:creationId xmlns:a16="http://schemas.microsoft.com/office/drawing/2014/main" id="{3B580796-0620-44FE-97E2-5F64561A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52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4-lane multiplier array</a:t>
            </a:r>
          </a:p>
        </p:txBody>
      </p:sp>
      <p:sp>
        <p:nvSpPr>
          <p:cNvPr id="16" name="q-mul-0-box">
            <a:extLst xmlns:a="http://schemas.openxmlformats.org/drawingml/2006/main">
              <a:ext uri="{FF2B5EF4-FFF2-40B4-BE49-F238E27FC236}">
                <a16:creationId xmlns:a16="http://schemas.microsoft.com/office/drawing/2014/main" id="{608D5B73-82A2-4F42-AFD2-E0F8F71E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571500" cy="7429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7" name="q-mul-0-text">
            <a:extLst xmlns:a="http://schemas.openxmlformats.org/drawingml/2006/main">
              <a:ext uri="{FF2B5EF4-FFF2-40B4-BE49-F238E27FC236}">
                <a16:creationId xmlns:a16="http://schemas.microsoft.com/office/drawing/2014/main" id="{689F6866-03BE-491B-9FC8-15FF5853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q0 × k0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→ p0</a:t>
            </a:r>
          </a:p>
        </p:txBody>
      </p:sp>
      <p:sp>
        <p:nvSpPr>
          <p:cNvPr id="18" name="q-mul-1-box">
            <a:extLst xmlns:a="http://schemas.openxmlformats.org/drawingml/2006/main">
              <a:ext uri="{FF2B5EF4-FFF2-40B4-BE49-F238E27FC236}">
                <a16:creationId xmlns:a16="http://schemas.microsoft.com/office/drawing/2014/main" id="{B38F26F1-D77A-4838-B67B-BB79D3C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571500" cy="7429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19" name="q-mul-1-text">
            <a:extLst xmlns:a="http://schemas.openxmlformats.org/drawingml/2006/main">
              <a:ext uri="{FF2B5EF4-FFF2-40B4-BE49-F238E27FC236}">
                <a16:creationId xmlns:a16="http://schemas.microsoft.com/office/drawing/2014/main" id="{64DD4873-C001-495A-B8A7-DB7C9CF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q1 × k1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→ p1</a:t>
            </a:r>
          </a:p>
        </p:txBody>
      </p:sp>
      <p:sp>
        <p:nvSpPr>
          <p:cNvPr id="20" name="q-mul-2-box">
            <a:extLst xmlns:a="http://schemas.openxmlformats.org/drawingml/2006/main">
              <a:ext uri="{FF2B5EF4-FFF2-40B4-BE49-F238E27FC236}">
                <a16:creationId xmlns:a16="http://schemas.microsoft.com/office/drawing/2014/main" id="{E40FC0E5-7A7D-478D-B8F8-6DD1671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571500" cy="7429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21" name="q-mul-2-text">
            <a:extLst xmlns:a="http://schemas.openxmlformats.org/drawingml/2006/main">
              <a:ext uri="{FF2B5EF4-FFF2-40B4-BE49-F238E27FC236}">
                <a16:creationId xmlns:a16="http://schemas.microsoft.com/office/drawing/2014/main" id="{500F4778-2BD1-4190-8F3A-15741445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81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q2 × k2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→ p2</a:t>
            </a:r>
          </a:p>
        </p:txBody>
      </p:sp>
      <p:sp>
        <p:nvSpPr>
          <p:cNvPr id="22" name="q-mul-3-box">
            <a:extLst xmlns:a="http://schemas.openxmlformats.org/drawingml/2006/main">
              <a:ext uri="{FF2B5EF4-FFF2-40B4-BE49-F238E27FC236}">
                <a16:creationId xmlns:a16="http://schemas.microsoft.com/office/drawing/2014/main" id="{AA3C74DC-09E1-4E7D-93B7-4A363F4A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571500" cy="7429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23" name="q-mul-3-text">
            <a:extLst xmlns:a="http://schemas.openxmlformats.org/drawingml/2006/main">
              <a:ext uri="{FF2B5EF4-FFF2-40B4-BE49-F238E27FC236}">
                <a16:creationId xmlns:a16="http://schemas.microsoft.com/office/drawing/2014/main" id="{C0FEE907-914D-4159-8949-C0BA084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q3 × k3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→ p3</a:t>
            </a:r>
          </a:p>
        </p:txBody>
      </p:sp>
      <p:sp>
        <p:nvSpPr>
          <p:cNvPr id="24" name="q-mul-reg">
            <a:extLst xmlns:a="http://schemas.openxmlformats.org/drawingml/2006/main">
              <a:ext uri="{FF2B5EF4-FFF2-40B4-BE49-F238E27FC236}">
                <a16:creationId xmlns:a16="http://schemas.microsoft.com/office/drawing/2014/main" id="{62225B31-7622-49A4-B475-301FFF88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product_reg[0:3] 於 clock edge 暫存</a:t>
            </a:r>
          </a:p>
        </p:txBody>
      </p:sp>
      <p:sp>
        <p:nvSpPr>
          <p:cNvPr id="25" name="q-c2">
            <a:extLst xmlns:a="http://schemas.openxmlformats.org/drawingml/2006/main">
              <a:ext uri="{FF2B5EF4-FFF2-40B4-BE49-F238E27FC236}">
                <a16:creationId xmlns:a16="http://schemas.microsoft.com/office/drawing/2014/main" id="{3F63CA30-713C-4AD1-9776-01D3B44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Cycle N+2</a:t>
            </a:r>
          </a:p>
        </p:txBody>
      </p:sp>
      <p:sp>
        <p:nvSpPr>
          <p:cNvPr id="26" name="q-add-box">
            <a:extLst xmlns:a="http://schemas.openxmlformats.org/drawingml/2006/main">
              <a:ext uri="{FF2B5EF4-FFF2-40B4-BE49-F238E27FC236}">
                <a16:creationId xmlns:a16="http://schemas.microsoft.com/office/drawing/2014/main" id="{0AA8C2D4-FE74-4CB3-A431-7BB8EE0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2238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q-add-title">
            <a:extLst xmlns:a="http://schemas.openxmlformats.org/drawingml/2006/main">
              <a:ext uri="{FF2B5EF4-FFF2-40B4-BE49-F238E27FC236}">
                <a16:creationId xmlns:a16="http://schemas.microsoft.com/office/drawing/2014/main" id="{B752C6D4-9E77-4762-A3A3-3FBEFF36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3357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Combinational adder</a:t>
            </a:r>
          </a:p>
        </p:txBody>
      </p:sp>
      <p:sp>
        <p:nvSpPr>
          <p:cNvPr id="28" name="q-add-body">
            <a:extLst xmlns:a="http://schemas.openxmlformats.org/drawingml/2006/main">
              <a:ext uri="{FF2B5EF4-FFF2-40B4-BE49-F238E27FC236}">
                <a16:creationId xmlns:a16="http://schemas.microsoft.com/office/drawing/2014/main" id="{AA159B05-48F8-4901-9D6C-BC854AC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66950"/>
            <a:ext cx="19335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product_reg[0] + ... + [3]</a:t>
            </a:r>
          </a:p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→ score_sum[31:0]</a:t>
            </a:r>
          </a:p>
        </p:txBody>
      </p:sp>
      <p:sp>
        <p:nvSpPr>
          <p:cNvPr id="29" name="q-out-box">
            <a:extLst xmlns:a="http://schemas.openxmlformats.org/drawingml/2006/main">
              <a:ext uri="{FF2B5EF4-FFF2-40B4-BE49-F238E27FC236}">
                <a16:creationId xmlns:a16="http://schemas.microsoft.com/office/drawing/2014/main" id="{66ADC6AD-044A-4BFB-93F0-BE43561E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09750"/>
            <a:ext cx="1743075" cy="21907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4F4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q-out-title">
            <a:extLst xmlns:a="http://schemas.openxmlformats.org/drawingml/2006/main">
              <a:ext uri="{FF2B5EF4-FFF2-40B4-BE49-F238E27FC236}">
                <a16:creationId xmlns:a16="http://schemas.microsoft.com/office/drawing/2014/main" id="{11EFF96E-D0C5-47D5-AFF8-8C286B22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933575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Score output</a:t>
            </a:r>
          </a:p>
        </p:txBody>
      </p:sp>
      <p:sp>
        <p:nvSpPr>
          <p:cNvPr id="31" name="q-out-body">
            <a:extLst xmlns:a="http://schemas.openxmlformats.org/drawingml/2006/main">
              <a:ext uri="{FF2B5EF4-FFF2-40B4-BE49-F238E27FC236}">
                <a16:creationId xmlns:a16="http://schemas.microsoft.com/office/drawing/2014/main" id="{E753CDFE-39A7-4456-93F3-CF85422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266950"/>
            <a:ext cx="14382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attention_score</a:t>
            </a:r>
          </a:p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score_q_idx / score_k_idx</a:t>
            </a:r>
          </a:p>
          <a:p xmlns:a="http://schemas.openxmlformats.org/drawingml/2006/main"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score_valid</a:t>
            </a:r>
          </a:p>
        </p:txBody>
      </p:sp>
      <p:sp>
        <p:nvSpPr>
          <p:cNvPr id="32" name="q-control">
            <a:extLst xmlns:a="http://schemas.openxmlformats.org/drawingml/2006/main">
              <a:ext uri="{FF2B5EF4-FFF2-40B4-BE49-F238E27FC236}">
                <a16:creationId xmlns:a16="http://schemas.microsoft.com/office/drawing/2014/main" id="{12633B78-55C0-455E-A0DF-BF23A2FD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33" name="q-control-title">
            <a:extLst xmlns:a="http://schemas.openxmlformats.org/drawingml/2006/main">
              <a:ext uri="{FF2B5EF4-FFF2-40B4-BE49-F238E27FC236}">
                <a16:creationId xmlns:a16="http://schemas.microsoft.com/office/drawing/2014/main" id="{75FDA6D5-8F04-4E3B-9562-221C662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advance_ready 是整條 pipeline 的 clock-enable</a:t>
            </a:r>
          </a:p>
        </p:txBody>
      </p:sp>
      <p:sp>
        <p:nvSpPr>
          <p:cNvPr id="34" name="q-control-body">
            <a:extLst xmlns:a="http://schemas.openxmlformats.org/drawingml/2006/main">
              <a:ext uri="{FF2B5EF4-FFF2-40B4-BE49-F238E27FC236}">
                <a16:creationId xmlns:a16="http://schemas.microsoft.com/office/drawing/2014/main" id="{69635BBD-C553-4AB1-B40E-2865D28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244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advance_ready=0 時，Stage 0、product_reg 與 output registers 全部保持；valid 與 index 會和資料一起延遲，不會錯位。</a:t>
            </a:r>
          </a:p>
        </p:txBody>
      </p:sp>
      <p:sp>
        <p:nvSpPr>
          <p:cNvPr id="35" name="q-throughput-box">
            <a:extLst xmlns:a="http://schemas.openxmlformats.org/drawingml/2006/main">
              <a:ext uri="{FF2B5EF4-FFF2-40B4-BE49-F238E27FC236}">
                <a16:creationId xmlns:a16="http://schemas.microsoft.com/office/drawing/2014/main" id="{44023156-FF05-46A6-B9C1-19F61F47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933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36" name="q-throughput-text">
            <a:extLst xmlns:a="http://schemas.openxmlformats.org/drawingml/2006/main">
              <a:ext uri="{FF2B5EF4-FFF2-40B4-BE49-F238E27FC236}">
                <a16:creationId xmlns:a16="http://schemas.microsoft.com/office/drawing/2014/main" id="{4AE659C2-4AA7-4DD6-95E0-9FE73B9A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延遲約 3 個 cycle；pipeline 填滿後，只要 advance_ready 持續為 1，可每 cycle 接收一組 pair。</a:t>
            </a:r>
          </a:p>
        </p:txBody>
      </p:sp>
    </p:spTree>
    <p:extLst>
      <p:ext uri="{BB962C8B-B14F-4D97-AF65-F5344CB8AC3E}">
        <p14:creationId xmlns:p14="http://schemas.microsoft.com/office/powerpoint/2010/main" val="757906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483465FE-BB2D-49C1-8D4A-225AEBB1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Sparse softmax/SV 由五態 FSM 驅動 online softmax datapath</a:t>
            </a:r>
          </a:p>
        </p:txBody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0D779C7B-7C40-4D4C-AA61-87E86A9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4485CD9B-A09F-4594-965E-424DD456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4" name="sm-fa0">
            <a:extLst xmlns:a="http://schemas.openxmlformats.org/drawingml/2006/main">
              <a:ext uri="{FF2B5EF4-FFF2-40B4-BE49-F238E27FC236}">
                <a16:creationId xmlns:a16="http://schemas.microsoft.com/office/drawing/2014/main" id="{0BCDD63A-1442-4385-A075-F9E8602A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85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m-fa1">
            <a:extLst xmlns:a="http://schemas.openxmlformats.org/drawingml/2006/main">
              <a:ext uri="{FF2B5EF4-FFF2-40B4-BE49-F238E27FC236}">
                <a16:creationId xmlns:a16="http://schemas.microsoft.com/office/drawing/2014/main" id="{AFB30FA7-DC18-4448-903A-76BDA0FC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m-fa2">
            <a:extLst xmlns:a="http://schemas.openxmlformats.org/drawingml/2006/main">
              <a:ext uri="{FF2B5EF4-FFF2-40B4-BE49-F238E27FC236}">
                <a16:creationId xmlns:a16="http://schemas.microsoft.com/office/drawing/2014/main" id="{174EE9BD-B94D-4B9C-886C-117D41B4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85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m-fa3">
            <a:extLst xmlns:a="http://schemas.openxmlformats.org/drawingml/2006/main">
              <a:ext uri="{FF2B5EF4-FFF2-40B4-BE49-F238E27FC236}">
                <a16:creationId xmlns:a16="http://schemas.microsoft.com/office/drawing/2014/main" id="{51361EBD-64E8-4C60-87ED-1CE8B81B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85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m-a1">
            <a:extLst xmlns:a="http://schemas.openxmlformats.org/drawingml/2006/main">
              <a:ext uri="{FF2B5EF4-FFF2-40B4-BE49-F238E27FC236}">
                <a16:creationId xmlns:a16="http://schemas.microsoft.com/office/drawing/2014/main" id="{07D4F533-FBA2-4367-8044-4A565021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sm-a2">
            <a:extLst xmlns:a="http://schemas.openxmlformats.org/drawingml/2006/main">
              <a:ext uri="{FF2B5EF4-FFF2-40B4-BE49-F238E27FC236}">
                <a16:creationId xmlns:a16="http://schemas.microsoft.com/office/drawing/2014/main" id="{DBCBDE3D-400F-4823-A7CA-59430C45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m-a3">
            <a:extLst xmlns:a="http://schemas.openxmlformats.org/drawingml/2006/main">
              <a:ext uri="{FF2B5EF4-FFF2-40B4-BE49-F238E27FC236}">
                <a16:creationId xmlns:a16="http://schemas.microsoft.com/office/drawing/2014/main" id="{74CD2E52-C7FF-47F5-A863-62EEA953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719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m-a4">
            <a:extLst xmlns:a="http://schemas.openxmlformats.org/drawingml/2006/main">
              <a:ext uri="{FF2B5EF4-FFF2-40B4-BE49-F238E27FC236}">
                <a16:creationId xmlns:a16="http://schemas.microsoft.com/office/drawing/2014/main" id="{3C4290F7-129A-4CF5-B16C-949610BF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719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m-fsm-label">
            <a:extLst xmlns:a="http://schemas.openxmlformats.org/drawingml/2006/main">
              <a:ext uri="{FF2B5EF4-FFF2-40B4-BE49-F238E27FC236}">
                <a16:creationId xmlns:a16="http://schemas.microsoft.com/office/drawing/2014/main" id="{378561EE-AD8C-4E11-AA6F-23B501C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Control FSM</a:t>
            </a:r>
          </a:p>
        </p:txBody>
      </p:sp>
      <p:sp>
        <p:nvSpPr>
          <p:cNvPr id="13" name="sm-COLLECT-box">
            <a:extLst xmlns:a="http://schemas.openxmlformats.org/drawingml/2006/main">
              <a:ext uri="{FF2B5EF4-FFF2-40B4-BE49-F238E27FC236}">
                <a16:creationId xmlns:a16="http://schemas.microsoft.com/office/drawing/2014/main" id="{9C0933C8-81A7-4ED3-AEFF-D7AA2768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sm-COLLECT-title">
            <a:extLst xmlns:a="http://schemas.openxmlformats.org/drawingml/2006/main">
              <a:ext uri="{FF2B5EF4-FFF2-40B4-BE49-F238E27FC236}">
                <a16:creationId xmlns:a16="http://schemas.microsoft.com/office/drawing/2014/main" id="{171FBD33-10B5-4966-97C1-A087463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COLLECT</a:t>
            </a:r>
          </a:p>
        </p:txBody>
      </p:sp>
      <p:sp>
        <p:nvSpPr>
          <p:cNvPr id="15" name="sm-COLLECT-body">
            <a:extLst xmlns:a="http://schemas.openxmlformats.org/drawingml/2006/main">
              <a:ext uri="{FF2B5EF4-FFF2-40B4-BE49-F238E27FC236}">
                <a16:creationId xmlns:a16="http://schemas.microsoft.com/office/drawing/2014/main" id="{12AC9FEA-1AC1-49AA-A254-555546C8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64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接收 score；比較 row max</a:t>
            </a:r>
          </a:p>
        </p:txBody>
      </p:sp>
      <p:sp>
        <p:nvSpPr>
          <p:cNvPr id="16" name="sm-UPDATE-box">
            <a:extLst xmlns:a="http://schemas.openxmlformats.org/drawingml/2006/main">
              <a:ext uri="{FF2B5EF4-FFF2-40B4-BE49-F238E27FC236}">
                <a16:creationId xmlns:a16="http://schemas.microsoft.com/office/drawing/2014/main" id="{A1423827-833B-4E2A-A445-68322F8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0020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sm-UPDATE-title">
            <a:extLst xmlns:a="http://schemas.openxmlformats.org/drawingml/2006/main">
              <a:ext uri="{FF2B5EF4-FFF2-40B4-BE49-F238E27FC236}">
                <a16:creationId xmlns:a16="http://schemas.microsoft.com/office/drawing/2014/main" id="{4E6BDC68-3156-4000-A7DF-9DB7916C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2402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UPDATE</a:t>
            </a:r>
          </a:p>
        </p:txBody>
      </p:sp>
      <p:sp>
        <p:nvSpPr>
          <p:cNvPr id="18" name="sm-UPDATE-body">
            <a:extLst xmlns:a="http://schemas.openxmlformats.org/drawingml/2006/main">
              <a:ext uri="{FF2B5EF4-FFF2-40B4-BE49-F238E27FC236}">
                <a16:creationId xmlns:a16="http://schemas.microsoft.com/office/drawing/2014/main" id="{0EA2D657-E386-4B91-A98B-B10BEEA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164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每 cycle 更新 1 個 V feature</a:t>
            </a:r>
          </a:p>
        </p:txBody>
      </p:sp>
      <p:sp>
        <p:nvSpPr>
          <p:cNvPr id="19" name="sm-PREPARE-box">
            <a:extLst xmlns:a="http://schemas.openxmlformats.org/drawingml/2006/main">
              <a:ext uri="{FF2B5EF4-FFF2-40B4-BE49-F238E27FC236}">
                <a16:creationId xmlns:a16="http://schemas.microsoft.com/office/drawing/2014/main" id="{FD488946-13C7-4159-A9E5-91CC90B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0020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sm-PREPARE-title">
            <a:extLst xmlns:a="http://schemas.openxmlformats.org/drawingml/2006/main">
              <a:ext uri="{FF2B5EF4-FFF2-40B4-BE49-F238E27FC236}">
                <a16:creationId xmlns:a16="http://schemas.microsoft.com/office/drawing/2014/main" id="{0DA0B5A7-5F04-4747-A83E-31A1506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72402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PREPARE</a:t>
            </a:r>
          </a:p>
        </p:txBody>
      </p:sp>
      <p:sp>
        <p:nvSpPr>
          <p:cNvPr id="21" name="sm-PREPARE-body">
            <a:extLst xmlns:a="http://schemas.openxmlformats.org/drawingml/2006/main">
              <a:ext uri="{FF2B5EF4-FFF2-40B4-BE49-F238E27FC236}">
                <a16:creationId xmlns:a16="http://schemas.microsoft.com/office/drawing/2014/main" id="{1A4331CA-E255-47CF-A22A-F5A05B7C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57400"/>
            <a:ext cx="164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選 q / feature；裝載分子分母</a:t>
            </a:r>
          </a:p>
        </p:txBody>
      </p:sp>
      <p:sp>
        <p:nvSpPr>
          <p:cNvPr id="22" name="sm-DIVIDE-box">
            <a:extLst xmlns:a="http://schemas.openxmlformats.org/drawingml/2006/main">
              <a:ext uri="{FF2B5EF4-FFF2-40B4-BE49-F238E27FC236}">
                <a16:creationId xmlns:a16="http://schemas.microsoft.com/office/drawing/2014/main" id="{1DB7B160-3A7B-4A01-B104-0D0A4675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0020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sm-DIVIDE-title">
            <a:extLst xmlns:a="http://schemas.openxmlformats.org/drawingml/2006/main">
              <a:ext uri="{FF2B5EF4-FFF2-40B4-BE49-F238E27FC236}">
                <a16:creationId xmlns:a16="http://schemas.microsoft.com/office/drawing/2014/main" id="{2E78EF92-08F6-4AD5-AF8E-3428DA8C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2402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DIVIDE</a:t>
            </a:r>
          </a:p>
        </p:txBody>
      </p:sp>
      <p:sp>
        <p:nvSpPr>
          <p:cNvPr id="24" name="sm-DIVIDE-body">
            <a:extLst xmlns:a="http://schemas.openxmlformats.org/drawingml/2006/main">
              <a:ext uri="{FF2B5EF4-FFF2-40B4-BE49-F238E27FC236}">
                <a16:creationId xmlns:a16="http://schemas.microsoft.com/office/drawing/2014/main" id="{11E2A92F-052F-4956-B084-FAA5883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57400"/>
            <a:ext cx="164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16-bit restoring division</a:t>
            </a:r>
          </a:p>
        </p:txBody>
      </p:sp>
      <p:sp>
        <p:nvSpPr>
          <p:cNvPr id="25" name="sm-OUTPUT-box">
            <a:extLst xmlns:a="http://schemas.openxmlformats.org/drawingml/2006/main">
              <a:ext uri="{FF2B5EF4-FFF2-40B4-BE49-F238E27FC236}">
                <a16:creationId xmlns:a16="http://schemas.microsoft.com/office/drawing/2014/main" id="{7D9A70D5-2B11-4479-B525-8F016E8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0020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4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sm-OUTPUT-title">
            <a:extLst xmlns:a="http://schemas.openxmlformats.org/drawingml/2006/main">
              <a:ext uri="{FF2B5EF4-FFF2-40B4-BE49-F238E27FC236}">
                <a16:creationId xmlns:a16="http://schemas.microsoft.com/office/drawing/2014/main" id="{0B2419AB-465B-4A11-AD7A-E84CC9B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2402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OUTPUT</a:t>
            </a:r>
          </a:p>
        </p:txBody>
      </p:sp>
      <p:sp>
        <p:nvSpPr>
          <p:cNvPr id="27" name="sm-OUTPUT-body">
            <a:extLst xmlns:a="http://schemas.openxmlformats.org/drawingml/2006/main">
              <a:ext uri="{FF2B5EF4-FFF2-40B4-BE49-F238E27FC236}">
                <a16:creationId xmlns:a16="http://schemas.microsoft.com/office/drawing/2014/main" id="{2DDDFCB5-C9BF-4BC3-B7F8-E742BFFB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57400"/>
            <a:ext cx="1647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valid/ready；推進 feature 與 q</a:t>
            </a:r>
          </a:p>
        </p:txBody>
      </p:sp>
      <p:sp>
        <p:nvSpPr>
          <p:cNvPr id="28" name="sm-data-label">
            <a:extLst xmlns:a="http://schemas.openxmlformats.org/drawingml/2006/main">
              <a:ext uri="{FF2B5EF4-FFF2-40B4-BE49-F238E27FC236}">
                <a16:creationId xmlns:a16="http://schemas.microsoft.com/office/drawing/2014/main" id="{06061031-D7EF-42B5-A8CF-7AEE1B6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Datapath</a:t>
            </a:r>
          </a:p>
        </p:txBody>
      </p:sp>
      <p:sp>
        <p:nvSpPr>
          <p:cNvPr id="29" name="sm-in-box">
            <a:extLst xmlns:a="http://schemas.openxmlformats.org/drawingml/2006/main">
              <a:ext uri="{FF2B5EF4-FFF2-40B4-BE49-F238E27FC236}">
                <a16:creationId xmlns:a16="http://schemas.microsoft.com/office/drawing/2014/main" id="{725900CD-30FB-4563-B929-355FA5D2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30" name="sm-in-title">
            <a:extLst xmlns:a="http://schemas.openxmlformats.org/drawingml/2006/main">
              <a:ext uri="{FF2B5EF4-FFF2-40B4-BE49-F238E27FC236}">
                <a16:creationId xmlns:a16="http://schemas.microsoft.com/office/drawing/2014/main" id="{63939EAB-E8FB-42D4-B82D-413AED95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Score + V capture</a:t>
            </a:r>
          </a:p>
        </p:txBody>
      </p:sp>
      <p:sp>
        <p:nvSpPr>
          <p:cNvPr id="31" name="sm-in-body">
            <a:extLst xmlns:a="http://schemas.openxmlformats.org/drawingml/2006/main">
              <a:ext uri="{FF2B5EF4-FFF2-40B4-BE49-F238E27FC236}">
                <a16:creationId xmlns:a16="http://schemas.microsoft.com/office/drawing/2014/main" id="{839BFA34-DF0D-4D32-8411-D5048C0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504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score_q/k/value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V feature vector</a:t>
            </a:r>
          </a:p>
        </p:txBody>
      </p:sp>
      <p:sp>
        <p:nvSpPr>
          <p:cNvPr id="32" name="sm-online-box">
            <a:extLst xmlns:a="http://schemas.openxmlformats.org/drawingml/2006/main">
              <a:ext uri="{FF2B5EF4-FFF2-40B4-BE49-F238E27FC236}">
                <a16:creationId xmlns:a16="http://schemas.microsoft.com/office/drawing/2014/main" id="{6D0F49FE-60D6-4420-A73D-4854F813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147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sm-online-title">
            <a:extLst xmlns:a="http://schemas.openxmlformats.org/drawingml/2006/main">
              <a:ext uri="{FF2B5EF4-FFF2-40B4-BE49-F238E27FC236}">
                <a16:creationId xmlns:a16="http://schemas.microsoft.com/office/drawing/2014/main" id="{B705DFEC-300D-4BB2-A195-C96C0674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Online max / exp LUT</a:t>
            </a:r>
          </a:p>
        </p:txBody>
      </p:sp>
      <p:sp>
        <p:nvSpPr>
          <p:cNvPr id="34" name="sm-online-body">
            <a:extLst xmlns:a="http://schemas.openxmlformats.org/drawingml/2006/main">
              <a:ext uri="{FF2B5EF4-FFF2-40B4-BE49-F238E27FC236}">
                <a16:creationId xmlns:a16="http://schemas.microsoft.com/office/drawing/2014/main" id="{0305EFE6-D746-412C-BF8E-6DA2D06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1790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delta = |score-row_max| &gt;&gt; 1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exp_lut：Q0.16</a:t>
            </a:r>
          </a:p>
        </p:txBody>
      </p:sp>
      <p:sp>
        <p:nvSpPr>
          <p:cNvPr id="35" name="sm-acc-box">
            <a:extLst xmlns:a="http://schemas.openxmlformats.org/drawingml/2006/main">
              <a:ext uri="{FF2B5EF4-FFF2-40B4-BE49-F238E27FC236}">
                <a16:creationId xmlns:a16="http://schemas.microsoft.com/office/drawing/2014/main" id="{94F50F9C-CEEC-4EBD-B8F6-D9DF5A2B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71475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sm-acc-title">
            <a:extLst xmlns:a="http://schemas.openxmlformats.org/drawingml/2006/main">
              <a:ext uri="{FF2B5EF4-FFF2-40B4-BE49-F238E27FC236}">
                <a16:creationId xmlns:a16="http://schemas.microsoft.com/office/drawing/2014/main" id="{ED6C69AC-130D-4D2B-9C3A-41408E50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38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Row accumulators</a:t>
            </a:r>
          </a:p>
        </p:txBody>
      </p:sp>
      <p:sp>
        <p:nvSpPr>
          <p:cNvPr id="37" name="sm-acc-body">
            <a:extLst xmlns:a="http://schemas.openxmlformats.org/drawingml/2006/main">
              <a:ext uri="{FF2B5EF4-FFF2-40B4-BE49-F238E27FC236}">
                <a16:creationId xmlns:a16="http://schemas.microsoft.com/office/drawing/2014/main" id="{FACE582D-68F5-4BB6-BBCE-96A8CBFF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71950"/>
            <a:ext cx="1981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row_exp_sum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row_weighted_sum[q,feature]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new max 時重縮放舊值</a:t>
            </a:r>
          </a:p>
        </p:txBody>
      </p:sp>
      <p:sp>
        <p:nvSpPr>
          <p:cNvPr id="38" name="sm-prep-box">
            <a:extLst xmlns:a="http://schemas.openxmlformats.org/drawingml/2006/main">
              <a:ext uri="{FF2B5EF4-FFF2-40B4-BE49-F238E27FC236}">
                <a16:creationId xmlns:a16="http://schemas.microsoft.com/office/drawing/2014/main" id="{601AB70D-13D9-4F74-8412-41ED76C1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39" name="sm-prep-title">
            <a:extLst xmlns:a="http://schemas.openxmlformats.org/drawingml/2006/main">
              <a:ext uri="{FF2B5EF4-FFF2-40B4-BE49-F238E27FC236}">
                <a16:creationId xmlns:a16="http://schemas.microsoft.com/office/drawing/2014/main" id="{60127F20-008F-4A60-8A05-79741BD8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38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Divide operands</a:t>
            </a:r>
          </a:p>
        </p:txBody>
      </p:sp>
      <p:sp>
        <p:nvSpPr>
          <p:cNvPr id="40" name="sm-prep-body">
            <a:extLst xmlns:a="http://schemas.openxmlformats.org/drawingml/2006/main">
              <a:ext uri="{FF2B5EF4-FFF2-40B4-BE49-F238E27FC236}">
                <a16:creationId xmlns:a16="http://schemas.microsoft.com/office/drawing/2014/main" id="{3A59B93C-F10C-4E02-B423-EACA26B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504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numerator = weighted_sum &lt;&lt; 8</a:t>
            </a:r>
          </a:p>
          <a:p xmlns:a="http://schemas.openxmlformats.org/drawingml/2006/main"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denominator = row_exp_sum</a:t>
            </a:r>
          </a:p>
        </p:txBody>
      </p:sp>
      <p:sp>
        <p:nvSpPr>
          <p:cNvPr id="41" name="sm-div-box">
            <a:extLst xmlns:a="http://schemas.openxmlformats.org/drawingml/2006/main">
              <a:ext uri="{FF2B5EF4-FFF2-40B4-BE49-F238E27FC236}">
                <a16:creationId xmlns:a16="http://schemas.microsoft.com/office/drawing/2014/main" id="{44806338-881E-4374-BEAF-3B053822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714750"/>
            <a:ext cx="1666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2" name="sm-div-title">
            <a:extLst xmlns:a="http://schemas.openxmlformats.org/drawingml/2006/main">
              <a:ext uri="{FF2B5EF4-FFF2-40B4-BE49-F238E27FC236}">
                <a16:creationId xmlns:a16="http://schemas.microsoft.com/office/drawing/2014/main" id="{5722A71F-ACD5-4F94-8B27-722C00F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83857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Divider + context reg</a:t>
            </a:r>
          </a:p>
        </p:txBody>
      </p:sp>
      <p:sp>
        <p:nvSpPr>
          <p:cNvPr id="43" name="sm-div-body">
            <a:extLst xmlns:a="http://schemas.openxmlformats.org/drawingml/2006/main">
              <a:ext uri="{FF2B5EF4-FFF2-40B4-BE49-F238E27FC236}">
                <a16:creationId xmlns:a16="http://schemas.microsoft.com/office/drawing/2014/main" id="{1577DD5D-A1C8-4C12-8782-E7D9146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71950"/>
            <a:ext cx="13620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16 個 quotient bit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輸出 16-bit context</a:t>
            </a:r>
          </a:p>
        </p:txBody>
      </p:sp>
      <p:sp>
        <p:nvSpPr>
          <p:cNvPr id="44" name="sm-store-box">
            <a:extLst xmlns:a="http://schemas.openxmlformats.org/drawingml/2006/main">
              <a:ext uri="{FF2B5EF4-FFF2-40B4-BE49-F238E27FC236}">
                <a16:creationId xmlns:a16="http://schemas.microsoft.com/office/drawing/2014/main" id="{5E10F031-639C-47C1-B047-661EC37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45" name="sm-store-text">
            <a:extLst xmlns:a="http://schemas.openxmlformats.org/drawingml/2006/main">
              <a:ext uri="{FF2B5EF4-FFF2-40B4-BE49-F238E27FC236}">
                <a16:creationId xmlns:a16="http://schemas.microsoft.com/office/drawing/2014/main" id="{3B54908A-BAFF-4082-B488-A0DC48B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689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狀態記憶體：row_initialized 128×1、row_max 128×32、row_exp_sum 128×25、row_weighted_sum 512×48。</a:t>
            </a:r>
          </a:p>
        </p:txBody>
      </p:sp>
      <p:sp>
        <p:nvSpPr>
          <p:cNvPr id="46" name="sm-focus-box">
            <a:extLst xmlns:a="http://schemas.openxmlformats.org/drawingml/2006/main">
              <a:ext uri="{FF2B5EF4-FFF2-40B4-BE49-F238E27FC236}">
                <a16:creationId xmlns:a16="http://schemas.microsoft.com/office/drawing/2014/main" id="{CC65B56A-0DA5-4B56-9D3F-F54FD283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3886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47" name="sm-focus-text">
            <a:extLst xmlns:a="http://schemas.openxmlformats.org/drawingml/2006/main">
              <a:ext uri="{FF2B5EF4-FFF2-40B4-BE49-F238E27FC236}">
                <a16:creationId xmlns:a16="http://schemas.microsoft.com/office/drawing/2014/main" id="{FC3186CF-D288-47EC-A928-EC0CAB52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5307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面積／延遲焦點：512×48 weighted sum memory 與逐 bit divider。提高 throughput 時，可優先評估 BRAM 化或多 bit/cycle 除法。</a:t>
            </a:r>
          </a:p>
        </p:txBody>
      </p:sp>
    </p:spTree>
    <p:extLst>
      <p:ext uri="{BB962C8B-B14F-4D97-AF65-F5344CB8AC3E}">
        <p14:creationId xmlns:p14="http://schemas.microsoft.com/office/powerpoint/2010/main" val="605921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7A26DF82-812C-43FB-9332-EE29EDE1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9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整體規劃把規則、儲存、乘加與正規化清楚分離</a:t>
            </a:r>
          </a:p>
        </p:txBody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A68E3170-3BEF-460C-A2EB-971BF0C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AA1A5D5D-7E35-47F1-9BAE-134A11AB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4" name="sum-Streamer">
            <a:extLst xmlns:a="http://schemas.openxmlformats.org/drawingml/2006/main">
              <a:ext uri="{FF2B5EF4-FFF2-40B4-BE49-F238E27FC236}">
                <a16:creationId xmlns:a16="http://schemas.microsoft.com/office/drawing/2014/main" id="{09A92C78-67F7-4609-BA69-DD998987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DD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sum-Streamer-t">
            <a:extLst xmlns:a="http://schemas.openxmlformats.org/drawingml/2006/main">
              <a:ext uri="{FF2B5EF4-FFF2-40B4-BE49-F238E27FC236}">
                <a16:creationId xmlns:a16="http://schemas.microsoft.com/office/drawing/2014/main" id="{AB976E76-454B-47E2-9BA6-232F9C12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Streamer</a:t>
            </a:r>
          </a:p>
        </p:txBody>
      </p:sp>
      <p:sp>
        <p:nvSpPr>
          <p:cNvPr id="6" name="sum-Streamer-s">
            <a:extLst xmlns:a="http://schemas.openxmlformats.org/drawingml/2006/main">
              <a:ext uri="{FF2B5EF4-FFF2-40B4-BE49-F238E27FC236}">
                <a16:creationId xmlns:a16="http://schemas.microsoft.com/office/drawing/2014/main" id="{90331E19-59CC-48EA-B20D-145B844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規則生成 + bank 管理</a:t>
            </a:r>
          </a:p>
        </p:txBody>
      </p:sp>
      <p:sp>
        <p:nvSpPr>
          <p:cNvPr id="7" name="sum-Streamer-b">
            <a:extLst xmlns:a="http://schemas.openxmlformats.org/drawingml/2006/main">
              <a:ext uri="{FF2B5EF4-FFF2-40B4-BE49-F238E27FC236}">
                <a16:creationId xmlns:a16="http://schemas.microsoft.com/office/drawing/2014/main" id="{9410C4F8-283B-423B-833C-E220E42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009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17 個 KV_LBV2</a:t>
            </a:r>
          </a:p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phase 決定 bank</a:t>
            </a:r>
          </a:p>
        </p:txBody>
      </p:sp>
      <p:sp>
        <p:nvSpPr>
          <p:cNvPr id="8" name="sum-QKV memory">
            <a:extLst xmlns:a="http://schemas.openxmlformats.org/drawingml/2006/main">
              <a:ext uri="{FF2B5EF4-FFF2-40B4-BE49-F238E27FC236}">
                <a16:creationId xmlns:a16="http://schemas.microsoft.com/office/drawing/2014/main" id="{AF3A60FB-1ABE-48F7-9387-F9C99393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62125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AEB4BE"/>
            </a:solidFill>
            <a:prstDash val="solid"/>
          </a:ln>
        </p:spPr>
      </p:sp>
      <p:sp>
        <p:nvSpPr>
          <p:cNvPr id="9" name="sum-QKV memory-t">
            <a:extLst xmlns:a="http://schemas.openxmlformats.org/drawingml/2006/main">
              <a:ext uri="{FF2B5EF4-FFF2-40B4-BE49-F238E27FC236}">
                <a16:creationId xmlns:a16="http://schemas.microsoft.com/office/drawing/2014/main" id="{7CF11325-583B-45DA-897B-3985F6B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QKV memory</a:t>
            </a:r>
          </a:p>
        </p:txBody>
      </p:sp>
      <p:sp>
        <p:nvSpPr>
          <p:cNvPr id="10" name="sum-QKV memory-s">
            <a:extLst xmlns:a="http://schemas.openxmlformats.org/drawingml/2006/main">
              <a:ext uri="{FF2B5EF4-FFF2-40B4-BE49-F238E27FC236}">
                <a16:creationId xmlns:a16="http://schemas.microsoft.com/office/drawing/2014/main" id="{2E3C095D-3FBA-4F3A-9957-E49BCE6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feature 儲存與向量組裝</a:t>
            </a:r>
          </a:p>
        </p:txBody>
      </p:sp>
      <p:sp>
        <p:nvSpPr>
          <p:cNvPr id="11" name="sum-QKV memory-b">
            <a:extLst xmlns:a="http://schemas.openxmlformats.org/drawingml/2006/main">
              <a:ext uri="{FF2B5EF4-FFF2-40B4-BE49-F238E27FC236}">
                <a16:creationId xmlns:a16="http://schemas.microsoft.com/office/drawing/2014/main" id="{9954D33F-7E34-4E76-A85E-967C77BA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2009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3 × 512×8</a:t>
            </a:r>
          </a:p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合計約 1.5 KiB</a:t>
            </a:r>
          </a:p>
        </p:txBody>
      </p:sp>
      <p:sp>
        <p:nvSpPr>
          <p:cNvPr id="12" name="sum-QK accumulator">
            <a:extLst xmlns:a="http://schemas.openxmlformats.org/drawingml/2006/main">
              <a:ext uri="{FF2B5EF4-FFF2-40B4-BE49-F238E27FC236}">
                <a16:creationId xmlns:a16="http://schemas.microsoft.com/office/drawing/2014/main" id="{28C6610B-2BC5-49CE-91BD-716DA53E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um-QK accumulator-t">
            <a:extLst xmlns:a="http://schemas.openxmlformats.org/drawingml/2006/main">
              <a:ext uri="{FF2B5EF4-FFF2-40B4-BE49-F238E27FC236}">
                <a16:creationId xmlns:a16="http://schemas.microsoft.com/office/drawing/2014/main" id="{3E4C44FD-E773-4CB4-BE81-0C7D6B90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QK accumulator</a:t>
            </a:r>
          </a:p>
        </p:txBody>
      </p:sp>
      <p:sp>
        <p:nvSpPr>
          <p:cNvPr id="14" name="sum-QK accumulator-s">
            <a:extLst xmlns:a="http://schemas.openxmlformats.org/drawingml/2006/main">
              <a:ext uri="{FF2B5EF4-FFF2-40B4-BE49-F238E27FC236}">
                <a16:creationId xmlns:a16="http://schemas.microsoft.com/office/drawing/2014/main" id="{B71BE964-44FD-43ED-9BC0-FEA53C4F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2412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平行乘法 + pipeline</a:t>
            </a:r>
          </a:p>
        </p:txBody>
      </p:sp>
      <p:sp>
        <p:nvSpPr>
          <p:cNvPr id="15" name="sum-QK accumulator-b">
            <a:extLst xmlns:a="http://schemas.openxmlformats.org/drawingml/2006/main">
              <a:ext uri="{FF2B5EF4-FFF2-40B4-BE49-F238E27FC236}">
                <a16:creationId xmlns:a16="http://schemas.microsoft.com/office/drawing/2014/main" id="{AB2246C2-13C1-4878-AD0E-DB08F04D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009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4 個 8×8 lane</a:t>
            </a:r>
          </a:p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約 3-cycle latency</a:t>
            </a:r>
          </a:p>
        </p:txBody>
      </p:sp>
      <p:sp>
        <p:nvSpPr>
          <p:cNvPr id="16" name="sum-Softmax/SV">
            <a:extLst xmlns:a="http://schemas.openxmlformats.org/drawingml/2006/main">
              <a:ext uri="{FF2B5EF4-FFF2-40B4-BE49-F238E27FC236}">
                <a16:creationId xmlns:a16="http://schemas.microsoft.com/office/drawing/2014/main" id="{CACEF2AB-9A5F-4E56-B0CE-11680E21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DE7E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sum-Softmax/SV-t">
            <a:extLst xmlns:a="http://schemas.openxmlformats.org/drawingml/2006/main">
              <a:ext uri="{FF2B5EF4-FFF2-40B4-BE49-F238E27FC236}">
                <a16:creationId xmlns:a16="http://schemas.microsoft.com/office/drawing/2014/main" id="{8FF2990F-A887-4AA1-9D28-876596E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Softmax/SV</a:t>
            </a:r>
          </a:p>
        </p:txBody>
      </p:sp>
      <p:sp>
        <p:nvSpPr>
          <p:cNvPr id="18" name="sum-Softmax/SV-s">
            <a:extLst xmlns:a="http://schemas.openxmlformats.org/drawingml/2006/main">
              <a:ext uri="{FF2B5EF4-FFF2-40B4-BE49-F238E27FC236}">
                <a16:creationId xmlns:a16="http://schemas.microsoft.com/office/drawing/2014/main" id="{1AFF698F-C32C-42D5-8ED4-88AE9FDF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412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online softmax + context</a:t>
            </a:r>
          </a:p>
        </p:txBody>
      </p:sp>
      <p:sp>
        <p:nvSpPr>
          <p:cNvPr id="19" name="sum-Softmax/SV-b">
            <a:extLst xmlns:a="http://schemas.openxmlformats.org/drawingml/2006/main">
              <a:ext uri="{FF2B5EF4-FFF2-40B4-BE49-F238E27FC236}">
                <a16:creationId xmlns:a16="http://schemas.microsoft.com/office/drawing/2014/main" id="{95E399F8-DFA7-410A-A16A-BC974565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2009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5-state FSM</a:t>
            </a:r>
          </a:p>
          <a:p xmlns:a="http://schemas.openxmlformats.org/drawingml/2006/main">
            <a:pPr algn="ctr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48-bit weighted sum</a:t>
            </a:r>
          </a:p>
        </p:txBody>
      </p:sp>
      <p:sp>
        <p:nvSpPr>
          <p:cNvPr id="20" name="sum-next">
            <a:extLst xmlns:a="http://schemas.openxmlformats.org/drawingml/2006/main">
              <a:ext uri="{FF2B5EF4-FFF2-40B4-BE49-F238E27FC236}">
                <a16:creationId xmlns:a16="http://schemas.microsoft.com/office/drawing/2014/main" id="{4CEC80F9-B5FC-40B2-A2B8-8991CC0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001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sum-next-title">
            <a:extLst xmlns:a="http://schemas.openxmlformats.org/drawingml/2006/main">
              <a:ext uri="{FF2B5EF4-FFF2-40B4-BE49-F238E27FC236}">
                <a16:creationId xmlns:a16="http://schemas.microsoft.com/office/drawing/2014/main" id="{349747EE-A6D5-4978-9321-A6203061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優先驗證順序</a:t>
            </a:r>
          </a:p>
        </p:txBody>
      </p:sp>
      <p:sp>
        <p:nvSpPr>
          <p:cNvPr id="22" name="sum-next-body">
            <a:extLst xmlns:a="http://schemas.openxmlformats.org/drawingml/2006/main">
              <a:ext uri="{FF2B5EF4-FFF2-40B4-BE49-F238E27FC236}">
                <a16:creationId xmlns:a16="http://schemas.microsoft.com/office/drawing/2014/main" id="{ED877D83-27FF-44CA-B77C-F7E51820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1) streamer bank 選擇與 eviction  →  2) QK pipeline stall 對齊  →  3) softmax new-max 重縮放  →  4) context valid/ready 掃描順序</a:t>
            </a:r>
          </a:p>
        </p:txBody>
      </p:sp>
    </p:spTree>
    <p:extLst>
      <p:ext uri="{BB962C8B-B14F-4D97-AF65-F5344CB8AC3E}">
        <p14:creationId xmlns:p14="http://schemas.microsoft.com/office/powerpoint/2010/main" val="1342475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2026-07-13T12:08:57.9430000Z</dcterms:created>
  <dcterms:modified xsi:type="dcterms:W3CDTF">2026-07-13T12:08:57.9430000Z</dcterms:modified>
</coreProperties>
</file>